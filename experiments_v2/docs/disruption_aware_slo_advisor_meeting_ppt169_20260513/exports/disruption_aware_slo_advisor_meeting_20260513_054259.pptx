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This is the weekly update slot — same paper draft we've been talking about. Working title is *Cheap Preemption Enables Disruption-Aware SLO Scheduling for Long-Context LLM Serving*. Goal today: walk through the framing, the design, and the experiment plan, and get your read on two open questions at the end.</a:t>
            </a:r>
          </a:p>
          <a:p>
            <a:endParaRPr lang="zh-CN" dirty="0"/>
          </a:p>
          <a:p>
            <a:r>
              <a:rPr lang="zh-CN" dirty="0"/>
              <a:t>Key points: ① title + one-liner framing ② target = APSys 2026 workshop ③ today is structure + open questions, not a final-draft review</a:t>
            </a:r>
          </a:p>
          <a:p>
            <a:r>
              <a:rPr lang="zh-CN" dirty="0"/>
              <a:t>Duration: 1 minute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Let me start with why we keep coming back to the prefill-throwaway problem.</a:t>
            </a:r>
          </a:p>
          <a:p>
            <a:r>
              <a:rPr lang="zh-CN" dirty="0"/>
              <a:t>On our setup, RULER 16K prefill takes about 2.7 seconds, while ShareGPT chat TTFT P95 is 0.45 seconds — roughly 6× gap. So in the long-context regime, every time we discard a prefill and recompute, we burn seconds of GPU time per request — time that could have served someone else. Two distinct events keep forcing us to discard prefill, and they share the same root cause; that's the next slide.</a:t>
            </a:r>
          </a:p>
          <a:p>
            <a:endParaRPr lang="zh-CN" dirty="0"/>
          </a:p>
          <a:p>
            <a:r>
              <a:rPr lang="zh-CN" dirty="0"/>
              <a:t>Key points: ① concrete cost (2.7 s vs 0.45 s) ② ~6× gap drives all downstream design ③ throwaway is the wedge, not just "prefill is slow"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Two scenarios — engine failure and priority preemption — share one root cause: there's no cheap way to resume a partial decode.</a:t>
            </a:r>
          </a:p>
          <a:p>
            <a:r>
              <a:rPr lang="zh-CN" dirty="0"/>
              <a:t>Engine failure: a long request lives on one GPU, that GPU disappears (hardware fault, OOM, drain, kill, multi-tenant preempt). Long requests are disproportionately exposed because their lifetime scales with disruption probability. Today's recovery is full reprefill on a surviving engine.</a:t>
            </a:r>
          </a:p>
          <a:p>
            <a:r>
              <a:rPr lang="zh-CN" dirty="0"/>
              <a:t>Priority preempt: a tight-SLO request arrives, deadline tighter than the running request's. Schedulers today refuse to preempt long-context decode because reprefill cost dominates priority benefit, so the tight request waits or misses. Same root cause: no cheap resume.</a:t>
            </a:r>
          </a:p>
          <a:p>
            <a:endParaRPr lang="zh-CN" dirty="0"/>
          </a:p>
          <a:p>
            <a:r>
              <a:rPr lang="zh-CN" dirty="0"/>
              <a:t>Key points: ① two scenarios, one root cause ② long requests overexposed in both ③ "no cheap resume" is the unifying mechanism gap</a:t>
            </a:r>
          </a:p>
          <a:p>
            <a:r>
              <a:rPr lang="zh-CN" dirty="0"/>
              <a:t>Duration: 2.5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Mapped against four axes that matter for this problem, the existing-systems landscape leaves one quadrant empty.</a:t>
            </a:r>
          </a:p>
          <a:p>
            <a:r>
              <a:rPr lang="zh-CN" dirty="0"/>
              <a:t>Axes: can preempt long-context decode, disruption-aware, host-side KV pool, cross-engine state transfer. Ten representative systems each fill three of the four cells. None fills all four. The empty quadrant — cheap preempt of long-context decode crossed with disruption-aware — is the position we occupy. Each row in this table will become an inline citation, which is also how we replace an independent related-work section.</a:t>
            </a:r>
          </a:p>
          <a:p>
            <a:endParaRPr lang="zh-CN" dirty="0"/>
          </a:p>
          <a:p>
            <a:r>
              <a:rPr lang="zh-CN" dirty="0"/>
              <a:t>Key points: ① 4-axis comparison, 10 systems ② empty quadrant = our position ③ table replaces related-work section per APSys convention</a:t>
            </a:r>
          </a:p>
          <a:p>
            <a:r>
              <a:rPr lang="zh-CN" dirty="0"/>
              <a:t>Duration: 3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The whole design collapses to one sentence.</a:t>
            </a:r>
          </a:p>
          <a:p>
            <a:r>
              <a:rPr lang="zh-CN" dirty="0"/>
              <a:t>A single host-side KV checkpoint, async-published to /dev/shm at block-aligned cadence, simultaneously serves as the recovery substrate when an engine dies, and the cheap-preempt substrate that lets the scheduler preempt running long-context decode without wasting prefill. Same data, two uses, no duplication. The broader point — when a mechanism's cost drops below a threshold, design space that was previously off-limits opens up — is what we'd like to argue as the paper's framing contribution.</a:t>
            </a:r>
          </a:p>
          <a:p>
            <a:endParaRPr lang="zh-CN" dirty="0"/>
          </a:p>
          <a:p>
            <a:r>
              <a:rPr lang="zh-CN" dirty="0"/>
              <a:t>Key points: ① one checkpoint, two uses ② mechanism-policy coupling is the core design move ③ "cost threshold → new design space" is the framing story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Architecturally: client, router as a separate CPU-only process, and one engine process per GPU.</a:t>
            </a:r>
          </a:p>
          <a:p>
            <a:r>
              <a:rPr lang="zh-CN" dirty="0"/>
              <a:t>Engines publish KV checkpoints to a host-side store with two tiers — an in-process pinned-memory pool that backs sub-millisecond same-engine resume, and a /dev/shm mirror that other engines can read for cross-engine restore. Router watches engine health via a shm status file and reroutes in-flight requests when an engine goes silent. The key design fact: the same checkpoint data backs both same-engine preempt-and-resume and cross-engine recovery.</a:t>
            </a:r>
          </a:p>
          <a:p>
            <a:endParaRPr lang="zh-CN" dirty="0"/>
          </a:p>
          <a:p>
            <a:r>
              <a:rPr lang="zh-CN" dirty="0"/>
              <a:t>Key points: ① router separate from engines ② two-tier checkpoint store ③ one data path → two scheduling moves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Mechanism details first, since policy depends on what the mechanism cheap-enables.</a:t>
            </a:r>
          </a:p>
          <a:p>
            <a:r>
              <a:rPr lang="zh-CN" dirty="0"/>
              <a:t>We save per-block deltas — every 16 tokens decoded is one vLLM KV block, and we checkpoint the new K/V tensors of that block. Block alignment is mandatory because vLLM allocates KV in fixed blocks. Naive synchronous /dev/shm publish costs about 30% TTFT under load; we drive that down to negligible with a four-stage async pipeline — Future + depth-1 backpressure on the engine side, GPU-side batch gather on the worker, libc-write via ctypes for GIL release on the shm side, and a shared CUDA stream with batched flush on the restore side. Two correctness invariants keep this safe: the "latest" pointer updates only after rename so readers never see a partial chunk, and the eager-counter gap is absorbed by the reload state machine as decode replay.</a:t>
            </a:r>
          </a:p>
          <a:p>
            <a:endParaRPr lang="zh-CN" dirty="0"/>
          </a:p>
          <a:p>
            <a:r>
              <a:rPr lang="zh-CN" dirty="0"/>
              <a:t>Key points: ① 4-stage pipeline → ~30% TTFT overhead reduced to ~30 ms ② invariants make crash-during-publish safe ③ same data backs both tiers</a:t>
            </a:r>
          </a:p>
          <a:p>
            <a:r>
              <a:rPr lang="zh-CN" dirty="0"/>
              <a:t>Duration: 3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Policy on top of the mechanism: slack-based preempt picker.</a:t>
            </a:r>
          </a:p>
          <a:p>
            <a:r>
              <a:rPr lang="zh-CN" dirty="0"/>
              <a:t>Slack is defined as wall-clock remaining before a request misses its SLO — TTFT slack pre-first-token, TPOT slack post-first-token. One signal collapses both SLO regimes. Picker rule: every scheduler step, pick the running request with maximum slack as candidate victim, the waiting request with minimum slack as candidate head, and preempt iff slack(victim) − slack(head) &gt; δ + replay_cost AND the victim has checkpointed tokens AND cooldown elapsed. Three guards each kill one failure mode — hysteresis δ kills thrashing, replay_cost kills bad trades, cooldown kills repeat-victim. The point relative to prior work: where Scorpio, JITServe, Llumnix rely on offline-profiled latency models, we observe slack drift at runtime and correct reactively — that's the prediction-to-measurement shift the paper argues for.</a:t>
            </a:r>
          </a:p>
          <a:p>
            <a:endParaRPr lang="zh-CN" dirty="0"/>
          </a:p>
          <a:p>
            <a:r>
              <a:rPr lang="zh-CN" dirty="0"/>
              <a:t>Key points: ① slack collapses TTFT + TPOT to one signal ② three guards, each kills one failure mode ③ measurement replaces offline profiling</a:t>
            </a:r>
          </a:p>
          <a:p>
            <a:r>
              <a:rPr lang="zh-CN" dirty="0"/>
              <a:t>Duration: 3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Cross-engine reroute uses the same checkpoint data.</a:t>
            </a:r>
          </a:p>
          <a:p>
            <a:r>
              <a:rPr lang="zh-CN" dirty="0"/>
              <a:t>Detection: each engine writes a heartbeat file every 200 ms from a daemon thread — not piggybacked on step() because idle engines never call step. Router polls every 500 ms; timestamp older than 2 seconds means dead. Reroute: router enumerates in-flight requests on the dead engine and re-forwards each to a surviving engine, body carries is_rerouted=True plus the original internal_req_id plus the published num_checkpointed_tokens. Restore: new engine's add_request diverts the request into a reload state machine that allocates KV blocks, calls restore_kv_blocks against /dev/shm, and flips status to PREEMPTED. From there vLLM's standard resumed-from-preempt admit path takes over, so we don't touch the admit loop.</a:t>
            </a:r>
          </a:p>
          <a:p>
            <a:endParaRPr lang="zh-CN" dirty="0"/>
          </a:p>
          <a:p>
            <a:r>
              <a:rPr lang="zh-CN" dirty="0"/>
              <a:t>Key points: ① heartbeat from daemon thread (lesson from earlier dead-engine false positive) ② is_rerouted flag + original req_id wire it together ③ reuse vLLM's resumed-from-preempt path, no admit-loop changes</a:t>
            </a:r>
          </a:p>
          <a:p>
            <a:r>
              <a:rPr lang="zh-CN" dirty="0"/>
              <a:t>Duration: 2.5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Setup, then claims, then placeholder figures.</a:t>
            </a:r>
          </a:p>
          <a:p>
            <a:r>
              <a:rPr lang="zh-CN" dirty="0"/>
              <a:t>Hardware is 2× A6000 PCIe with an L40S portability check. Model is Qwen2.5-7B-Instruct fp16, max_model_len 32K. Workloads are RULER 16K for the long-context regime we target and ShareGPT for the short-context regime we must not break, both with Poisson arrivals and Niyama-style 3-tier QoS in the main figure. SLOs are calibrated as multiples of baseline P95 on vllm_fcfs at uncontested low QPS. Four baselines isolate router cost, FT cost, and the slack picker contribution: vllm_fcfs as the no-router floor, reroute_no_ckpt as router-on but FT-off, ours_no_picker as FT-on with picker disabled, and ours as the full system. Three seeds per config.</a:t>
            </a:r>
          </a:p>
          <a:p>
            <a:endParaRPr lang="zh-CN" dirty="0"/>
          </a:p>
          <a:p>
            <a:r>
              <a:rPr lang="zh-CN" dirty="0"/>
              <a:t>Key points: ① 4 baselines isolate router / FT / picker contributions ② RULER 16K is the target regime, ShareGPT is the don't-break check ③ 3 seeds, mean ± std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Three experiments, one per contribution. Plots are placeholders for now.</a:t>
            </a:r>
          </a:p>
          <a:p>
            <a:r>
              <a:rPr lang="zh-CN" dirty="0"/>
              <a:t>E_M1 — main figure: SLO attainment versus QPS, three systems. Claim: ours holds attainment past the saturation knee where baselines drop below 90%. Long-context gap is widest because each preempt saves seconds of prefill the baselines redo. We have 1.0–8.0 QPS, 3 seeds on A6000; L40S replicate in progress.</a:t>
            </a:r>
          </a:p>
          <a:p>
            <a:r>
              <a:rPr lang="zh-CN" dirty="0"/>
              <a:t>E_M4 — picker ablation: same axes plus ours_no_picker. Claim: ours_no_picker lies between ours and reroute_no_ckpt — mechanism alone gives passive benefit, picker actively realizes the SLO advantage. Two contributions independent and additive. ours_no_picker runs scheduled this week.</a:t>
            </a:r>
          </a:p>
          <a:p>
            <a:r>
              <a:rPr lang="zh-CN" dirty="0"/>
              <a:t>E_D1 — failover gap: SIGKILL to next-token latency versus context length. Claim: ours about 1.5 s on RULER 16K, no_ckpt about 10–20 s at 16K, gap grows with context length, tens of seconds extrapolated at 64K. Demo works on RULER 16K; scaling to longer context next.</a:t>
            </a:r>
          </a:p>
          <a:p>
            <a:endParaRPr lang="zh-CN" dirty="0"/>
          </a:p>
          <a:p>
            <a:r>
              <a:rPr lang="zh-CN" dirty="0"/>
              <a:t>Key points: ① three experiments, one per contribution ② E_M1 mostly in, E_M4 + E_D1 in progress ③ failover gap grows with context length — wins exactly where we target</a:t>
            </a:r>
          </a:p>
          <a:p>
            <a:r>
              <a:rPr lang="zh-CN" dirty="0"/>
              <a:t>Duration: 3.5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Plan and two open questions.</a:t>
            </a:r>
          </a:p>
          <a:p>
            <a:r>
              <a:rPr lang="zh-CN" dirty="0"/>
              <a:t>Target is APSys 2026 Workshop, 6–8 pages, deadline May 20 — next Wednesday. Status: paper framework and section outline drafted; E_M1 partially in; E_M4 ablation runs scheduled this week; E_D1 demo works on RULER 16K. Two open questions I want your read on: first, whether the headline figure should be the tiered QoS view or the uniform view — tiered tells a clearer story but uses synthetic classes; second, whether to fold a small δ / cooldown sweep into the E_M2 budget to justify defaults.</a:t>
            </a:r>
          </a:p>
          <a:p>
            <a:endParaRPr lang="zh-CN" dirty="0"/>
          </a:p>
          <a:p>
            <a:r>
              <a:rPr lang="zh-CN" dirty="0"/>
              <a:t>Key points: ① APSys deadline May 20 ② experiments are partial, ablation + failover still running ③ two open questions: headline figure choice, δ/cooldown sweep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4046911" y="1982152"/>
            <a:ext cx="4098179" cy="213360"/>
            <a:chOff x="4046911" y="1982152"/>
            <a:chExt cx="4098179" cy="213360"/>
          </a:xfrm>
        </p:grpSpPr>
        <p:sp>
          <p:nvSpPr>
            <p:cNvPr id="3" name="TextBox 3"/>
            <p:cNvSpPr txBox="1"/>
            <p:nvPr/>
          </p:nvSpPr>
          <p:spPr>
            <a:xfrm>
              <a:off x="4046911" y="1982152"/>
              <a:ext cx="4098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WEEKLY RESEARCH UPDATE · APSys 2026 WORKSHOP DRAFT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91000" y="2476500"/>
            <a:ext cx="3810000" cy="9525"/>
            <a:chOff x="4191000" y="2476500"/>
            <a:chExt cx="3810000" cy="9525"/>
          </a:xfrm>
        </p:grpSpPr>
        <p:sp>
          <p:nvSpPr>
            <p:cNvPr id="5" name="Line 5"/>
            <p:cNvSpPr/>
            <p:nvPr/>
          </p:nvSpPr>
          <p:spPr>
            <a:xfrm>
              <a:off x="4191000" y="2476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4288">
              <a:solidFill>
                <a:srgbClr val="111827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832883" y="2866072"/>
            <a:ext cx="8526235" cy="1691640"/>
            <a:chOff x="1832883" y="2866072"/>
            <a:chExt cx="8526235" cy="1691640"/>
          </a:xfrm>
        </p:grpSpPr>
        <p:sp>
          <p:nvSpPr>
            <p:cNvPr id="7" name="TextBox 7"/>
            <p:cNvSpPr txBox="1"/>
            <p:nvPr/>
          </p:nvSpPr>
          <p:spPr>
            <a:xfrm>
              <a:off x="2771975" y="2866072"/>
              <a:ext cx="664805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Cheap Preemption Enables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32883" y="3361372"/>
              <a:ext cx="8526235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Disruption-Aware SLO Scheduling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0002" y="3856672"/>
              <a:ext cx="7811995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for Long-Context LLM Serving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43500" y="4667250"/>
            <a:ext cx="1905000" cy="9525"/>
            <a:chOff x="5143500" y="4667250"/>
            <a:chExt cx="1905000" cy="9525"/>
          </a:xfrm>
        </p:grpSpPr>
        <p:sp>
          <p:nvSpPr>
            <p:cNvPr id="11" name="Line 11"/>
            <p:cNvSpPr/>
            <p:nvPr/>
          </p:nvSpPr>
          <p:spPr>
            <a:xfrm>
              <a:off x="5143500" y="466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878848" y="4933950"/>
            <a:ext cx="2434304" cy="547688"/>
            <a:chOff x="4878848" y="4933950"/>
            <a:chExt cx="2434304" cy="547688"/>
          </a:xfrm>
        </p:grpSpPr>
        <p:sp>
          <p:nvSpPr>
            <p:cNvPr id="13" name="TextBox 13"/>
            <p:cNvSpPr txBox="1"/>
            <p:nvPr/>
          </p:nvSpPr>
          <p:spPr>
            <a:xfrm>
              <a:off x="5649754" y="4933950"/>
              <a:ext cx="8924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i="1" dirty="0">
                  <a:solidFill>
                    <a:srgbClr val="4B5563"/>
                  </a:solidFill>
                  <a:latin typeface="Georgia"/>
                  <a:ea typeface="SimSun"/>
                  <a:cs typeface="Georgia"/>
                </a:rPr>
                <a:t>Yi Zhong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78848" y="5268278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2026-05-13 · PhD weekly meeting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1022" y="6483191"/>
            <a:ext cx="11069955" cy="167640"/>
            <a:chOff x="561022" y="6483191"/>
            <a:chExt cx="11069955" cy="167640"/>
          </a:xfrm>
        </p:grpSpPr>
        <p:sp>
          <p:nvSpPr>
            <p:cNvPr id="16" name="TextBox 16"/>
            <p:cNvSpPr txBox="1"/>
            <p:nvPr/>
          </p:nvSpPr>
          <p:spPr>
            <a:xfrm>
              <a:off x="561022" y="648319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66622" y="64831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2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077575" cy="881063"/>
            <a:chOff x="542925" y="519112"/>
            <a:chExt cx="11077575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1094326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Long-context prefill is expensive — and we keep throwing it away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55686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Qwen2.5-7B + A6000, P95 from a no-pressure calibration sweep.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80260" y="1895475"/>
            <a:ext cx="8398288" cy="1933575"/>
            <a:chOff x="2080260" y="1895475"/>
            <a:chExt cx="8398288" cy="1933575"/>
          </a:xfrm>
        </p:grpSpPr>
        <p:grpSp>
          <p:nvGrpSpPr>
            <p:cNvPr id="9" name="Group 9"/>
            <p:cNvGrpSpPr/>
            <p:nvPr/>
          </p:nvGrpSpPr>
          <p:grpSpPr>
            <a:xfrm>
              <a:off x="3086100" y="1895475"/>
              <a:ext cx="228600" cy="228600"/>
              <a:chOff x="3086100" y="1895475"/>
              <a:chExt cx="228600" cy="228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3086100" y="18954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3200400" y="1946275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3459480" y="1930718"/>
              <a:ext cx="4657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Prefill / TTFT P95 — bar length scaled to seconds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080260" y="2571750"/>
              <a:ext cx="3402878" cy="400050"/>
              <a:chOff x="2080260" y="2571750"/>
              <a:chExt cx="3402878" cy="40005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080260" y="2680335"/>
                <a:ext cx="18707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ShareGPT chat (TTFT)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4095750" y="2571750"/>
                <a:ext cx="523875" cy="381000"/>
              </a:xfrm>
              <a:prstGeom prst="rect">
                <a:avLst/>
              </a:prstGeom>
              <a:solidFill>
                <a:srgbClr val="9CA3A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743450" y="2667000"/>
                <a:ext cx="73968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0.45 s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080260" y="3429000"/>
              <a:ext cx="5895737" cy="400050"/>
              <a:chOff x="2080260" y="3429000"/>
              <a:chExt cx="5895737" cy="40005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2080260" y="3537585"/>
                <a:ext cx="15990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RULER 16K (prefill)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4095750" y="3429000"/>
                <a:ext cx="3143250" cy="381000"/>
              </a:xfrm>
              <a:prstGeom prst="rect">
                <a:avLst/>
              </a:prstGeom>
              <a:solidFill>
                <a:srgbClr val="11182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362825" y="3524250"/>
                <a:ext cx="6131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2.7 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515350" y="2762250"/>
              <a:ext cx="1963198" cy="866775"/>
              <a:chOff x="8515350" y="2762250"/>
              <a:chExt cx="1963198" cy="866775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8572500" y="2762250"/>
                <a:ext cx="9525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0">
                    <a:moveTo>
                      <a:pt x="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14288">
                <a:solidFill>
                  <a:srgbClr val="111827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8515350" y="27622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4288">
                <a:solidFill>
                  <a:srgbClr val="111827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8515350" y="3619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4288">
                <a:solidFill>
                  <a:srgbClr val="111827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728710" y="2870835"/>
                <a:ext cx="1000196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≈ 6 ×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49665" y="3296602"/>
                <a:ext cx="17288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gap in cost-of-discard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71500" y="4381500"/>
            <a:ext cx="12474654" cy="1233488"/>
            <a:chOff x="571500" y="4381500"/>
            <a:chExt cx="12474654" cy="1233488"/>
          </a:xfrm>
        </p:grpSpPr>
        <p:sp>
          <p:nvSpPr>
            <p:cNvPr id="26" name="Line 26"/>
            <p:cNvSpPr/>
            <p:nvPr/>
          </p:nvSpPr>
          <p:spPr>
            <a:xfrm>
              <a:off x="571500" y="438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44855" y="4616768"/>
              <a:ext cx="11305603" cy="274320"/>
              <a:chOff x="744855" y="4616768"/>
              <a:chExt cx="11305603" cy="27432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44855" y="461676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·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35355" y="4616768"/>
                <a:ext cx="111151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Modern LLM workloads — RAG, long-document QA, agentic tool-use traces — routinely push prompts past</a:t>
                </a:r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16K tokens</a:t>
                </a:r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.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44855" y="4978718"/>
              <a:ext cx="12301299" cy="274320"/>
              <a:chOff x="744855" y="4978718"/>
              <a:chExt cx="12301299" cy="27432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744855" y="497871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·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35355" y="4978718"/>
                <a:ext cx="1211079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Once prefill is computed, throwing it away costs</a:t>
                </a:r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seconds of GPU time per request</a:t>
                </a:r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— time that could have served someone else.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44855" y="5340668"/>
              <a:ext cx="10950702" cy="274320"/>
              <a:chOff x="744855" y="5340668"/>
              <a:chExt cx="10950702" cy="27432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744855" y="534066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·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35355" y="5340668"/>
                <a:ext cx="107602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Two distinct system events keep forcing us to throw it away —</a:t>
                </a:r>
                <a:r>
                  <a:rPr lang="zh-CN" sz="1350" i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engine death</a:t>
                </a:r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and</a:t>
                </a:r>
                <a:r>
                  <a:rPr lang="zh-CN" sz="1350" i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priority preemption</a:t>
                </a:r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(next slide).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37" name="TextBox 37"/>
            <p:cNvSpPr txBox="1"/>
            <p:nvPr/>
          </p:nvSpPr>
          <p:spPr>
            <a:xfrm>
              <a:off x="561022" y="648319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077575" cy="881063"/>
            <a:chOff x="542925" y="519112"/>
            <a:chExt cx="11077575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1002889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Two scenarios share the same root cause: no cheap resume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5822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Both end the same way today — recompute the prefill from scratch.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6096000" y="1619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929640" y="1765300"/>
            <a:ext cx="4785360" cy="4235450"/>
            <a:chOff x="929640" y="1765300"/>
            <a:chExt cx="4785360" cy="4235450"/>
          </a:xfrm>
        </p:grpSpPr>
        <p:grpSp>
          <p:nvGrpSpPr>
            <p:cNvPr id="13" name="Group 13"/>
            <p:cNvGrpSpPr/>
            <p:nvPr/>
          </p:nvGrpSpPr>
          <p:grpSpPr>
            <a:xfrm>
              <a:off x="1003300" y="1765300"/>
              <a:ext cx="203200" cy="203200"/>
              <a:chOff x="1003300" y="1765300"/>
              <a:chExt cx="203200" cy="203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03300" y="1765300"/>
                <a:ext cx="203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203200">
                    <a:moveTo>
                      <a:pt x="101600" y="0"/>
                    </a:moveTo>
                    <a:cubicBezTo>
                      <a:pt x="157709" y="0"/>
                      <a:pt x="203200" y="42647"/>
                      <a:pt x="203200" y="95250"/>
                    </a:cubicBezTo>
                    <a:cubicBezTo>
                      <a:pt x="203200" y="119393"/>
                      <a:pt x="193612" y="141440"/>
                      <a:pt x="177800" y="158242"/>
                    </a:cubicBezTo>
                    <a:lnTo>
                      <a:pt x="177800" y="190500"/>
                    </a:lnTo>
                    <a:cubicBezTo>
                      <a:pt x="177800" y="197514"/>
                      <a:pt x="172114" y="203200"/>
                      <a:pt x="165100" y="203200"/>
                    </a:cubicBezTo>
                    <a:lnTo>
                      <a:pt x="38100" y="203200"/>
                    </a:lnTo>
                    <a:cubicBezTo>
                      <a:pt x="31086" y="203200"/>
                      <a:pt x="25400" y="197514"/>
                      <a:pt x="25400" y="190500"/>
                    </a:cubicBezTo>
                    <a:lnTo>
                      <a:pt x="25400" y="158242"/>
                    </a:lnTo>
                    <a:cubicBezTo>
                      <a:pt x="9589" y="141453"/>
                      <a:pt x="0" y="119405"/>
                      <a:pt x="0" y="95250"/>
                    </a:cubicBezTo>
                    <a:cubicBezTo>
                      <a:pt x="0" y="42647"/>
                      <a:pt x="45491" y="0"/>
                      <a:pt x="101600" y="0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9500" y="19304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30300" y="19304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4100" y="18415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30300" y="18415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68742" y="1847374"/>
              <a:ext cx="7652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SCENARIO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9640" y="2139315"/>
              <a:ext cx="34823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Engine failure mid-decode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935355" y="2667000"/>
              <a:ext cx="4779645" cy="3333750"/>
              <a:chOff x="935355" y="2667000"/>
              <a:chExt cx="4779645" cy="3333750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952500" y="26670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35355" y="2902268"/>
                <a:ext cx="306081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A long request lives on one GPU.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5355" y="3140392"/>
                <a:ext cx="20552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That GPU disappears.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9165" y="3649028"/>
                <a:ext cx="37761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Causes: hardware fault · OOM · scheduled drain ·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39165" y="3839528"/>
                <a:ext cx="31243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container kill · multi-tenant preemption.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5355" y="4283392"/>
                <a:ext cx="44607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Long requests are disproportionately exposed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35355" y="4521518"/>
                <a:ext cx="33861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— lifetime ∝ disruption probability.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0118" y="5181124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RECOVERY TODAY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952500" y="5381625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rgbClr val="111827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37260" y="5537835"/>
                <a:ext cx="30274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Full reprefill on a surviving engine.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37260" y="5756910"/>
                <a:ext cx="29047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i="1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→ tens of seconds at 16K context.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6454140" y="1752600"/>
            <a:ext cx="5166360" cy="4248150"/>
            <a:chOff x="6454140" y="1752600"/>
            <a:chExt cx="5166360" cy="4248150"/>
          </a:xfrm>
        </p:grpSpPr>
        <p:sp>
          <p:nvSpPr>
            <p:cNvPr id="29" name="Freeform 29"/>
            <p:cNvSpPr/>
            <p:nvPr/>
          </p:nvSpPr>
          <p:spPr>
            <a:xfrm>
              <a:off x="6540500" y="1752600"/>
              <a:ext cx="177800" cy="228600"/>
            </a:xfrm>
            <a:custGeom>
              <a:avLst/>
              <a:gdLst/>
              <a:ahLst/>
              <a:cxnLst/>
              <a:rect l="l" t="t" r="r" b="b"/>
              <a:pathLst>
                <a:path w="177800" h="228600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600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11182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93242" y="1847374"/>
              <a:ext cx="7652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SCENARIO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4140" y="2139315"/>
              <a:ext cx="39102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Priority preempt mid-decode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459855" y="2667000"/>
              <a:ext cx="5160645" cy="3333750"/>
              <a:chOff x="6459855" y="2667000"/>
              <a:chExt cx="5160645" cy="3333750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6477000" y="2667000"/>
                <a:ext cx="514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459855" y="2902268"/>
                <a:ext cx="28636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A tight-SLO request arrives.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59855" y="3140392"/>
                <a:ext cx="48156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Its deadline is closer than the running request's.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63665" y="3649028"/>
                <a:ext cx="31550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Routine under any non-uniform workload —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63665" y="3839528"/>
                <a:ext cx="32700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tight requests landing during loose decode.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59855" y="4283392"/>
                <a:ext cx="49339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Schedulers refuse to preempt long-context decode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459855" y="4521518"/>
                <a:ext cx="339599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— reprefill cost &gt; priority benefit.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64618" y="5181124"/>
                <a:ext cx="11212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OUTCOME TODAY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6477000" y="5381625"/>
                <a:ext cx="514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noFill/>
              <a:ln w="9525">
                <a:solidFill>
                  <a:srgbClr val="111827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461760" y="5537835"/>
                <a:ext cx="34480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Tight request waits, often misses SLO.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1760" y="5756910"/>
                <a:ext cx="34392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i="1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→ priority signal becomes advisory only.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45" name="TextBox 45"/>
            <p:cNvSpPr txBox="1"/>
            <p:nvPr/>
          </p:nvSpPr>
          <p:spPr>
            <a:xfrm>
              <a:off x="561022" y="648319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077575" cy="881063"/>
            <a:chOff x="542925" y="519112"/>
            <a:chExt cx="11077575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942507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Every prior system fills 3 of 4 cells. None fills all four.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65413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Empty quadrant:</a:t>
              </a:r>
              <a:r>
                <a:rPr lang="zh-CN" sz="1200" b="1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cheap preempt of long-context decode × disruption-aware</a:t>
              </a:r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.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1550194"/>
            <a:ext cx="11049000" cy="4441031"/>
            <a:chOff x="571500" y="1550194"/>
            <a:chExt cx="11049000" cy="4441031"/>
          </a:xfrm>
        </p:grpSpPr>
        <p:grpSp>
          <p:nvGrpSpPr>
            <p:cNvPr id="10" name="Group 10"/>
            <p:cNvGrpSpPr/>
            <p:nvPr/>
          </p:nvGrpSpPr>
          <p:grpSpPr>
            <a:xfrm>
              <a:off x="597694" y="1550194"/>
              <a:ext cx="157162" cy="157162"/>
              <a:chOff x="597694" y="1550194"/>
              <a:chExt cx="157162" cy="1571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67544" y="1620044"/>
                <a:ext cx="17463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32619" y="1585119"/>
                <a:ext cx="87312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3">
                    <a:moveTo>
                      <a:pt x="0" y="43656"/>
                    </a:moveTo>
                    <a:cubicBezTo>
                      <a:pt x="0" y="67767"/>
                      <a:pt x="19546" y="87313"/>
                      <a:pt x="43656" y="87313"/>
                    </a:cubicBezTo>
                    <a:cubicBezTo>
                      <a:pt x="67767" y="87313"/>
                      <a:pt x="87312" y="67767"/>
                      <a:pt x="87312" y="43656"/>
                    </a:cubicBezTo>
                    <a:cubicBezTo>
                      <a:pt x="87312" y="19546"/>
                      <a:pt x="67767" y="0"/>
                      <a:pt x="43656" y="0"/>
                    </a:cubicBezTo>
                    <a:cubicBezTo>
                      <a:pt x="19546" y="0"/>
                      <a:pt x="0" y="19546"/>
                      <a:pt x="0" y="43656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97694" y="155019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571500" y="1857375"/>
              <a:ext cx="11049000" cy="381000"/>
              <a:chOff x="571500" y="1857375"/>
              <a:chExt cx="11049000" cy="381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857375"/>
                <a:ext cx="11049000" cy="381000"/>
              </a:xfrm>
              <a:prstGeom prst="rect">
                <a:avLst/>
              </a:prstGeom>
              <a:solidFill>
                <a:srgbClr val="F3F4F6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48665" y="1991678"/>
                <a:ext cx="5902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System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774993" y="1991678"/>
                <a:ext cx="19750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Preempt long-ctx decode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55579" y="1991678"/>
                <a:ext cx="13953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Disruption-aware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58554" y="1991678"/>
                <a:ext cx="10088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Host-side KV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02620" y="1991678"/>
                <a:ext cx="15402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Cross-engine state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2378392"/>
              <a:ext cx="11049000" cy="279083"/>
              <a:chOff x="571500" y="2378392"/>
              <a:chExt cx="11049000" cy="27908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47712" y="2402681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vLLM (FCFS)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91134" y="23783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881884" y="23783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91634" y="23783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501384" y="23783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71500" y="26479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71500" y="2740342"/>
              <a:ext cx="11049000" cy="279083"/>
              <a:chOff x="571500" y="2740342"/>
              <a:chExt cx="11049000" cy="27908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747712" y="2764631"/>
                <a:ext cx="3654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QLM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59400" y="2772728"/>
                <a:ext cx="16062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✗ (early chunks only)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881884" y="27403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691634" y="27403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501384" y="27403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71500" y="30099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571500" y="3102292"/>
              <a:ext cx="11049000" cy="279083"/>
              <a:chOff x="571500" y="3102292"/>
              <a:chExt cx="11049000" cy="27908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747712" y="3126581"/>
                <a:ext cx="6200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Scorpio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70901" y="3134678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✗ (TTFT/TPOT gates)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881884" y="31022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91634" y="31022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501384" y="31022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571500" y="33718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464242"/>
              <a:ext cx="11049000" cy="279083"/>
              <a:chOff x="571500" y="3464242"/>
              <a:chExt cx="11049000" cy="279083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747712" y="3488531"/>
                <a:ext cx="71044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JITServe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70580" y="3496628"/>
                <a:ext cx="13838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✗ (admission ctrl)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881884" y="34642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91634" y="34642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501384" y="34642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571500" y="37338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52" name="Group 52"/>
            <p:cNvGrpSpPr/>
            <p:nvPr/>
          </p:nvGrpSpPr>
          <p:grpSpPr>
            <a:xfrm>
              <a:off x="571500" y="3826192"/>
              <a:ext cx="11049000" cy="279083"/>
              <a:chOff x="571500" y="3826192"/>
              <a:chExt cx="11049000" cy="279083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747712" y="3850481"/>
                <a:ext cx="5625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Niyama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151090" y="3858578"/>
                <a:ext cx="12228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✗ (deadline EDF)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81884" y="38261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691634" y="38261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501384" y="38261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571500" y="40957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59" name="Group 59"/>
            <p:cNvGrpSpPr/>
            <p:nvPr/>
          </p:nvGrpSpPr>
          <p:grpSpPr>
            <a:xfrm>
              <a:off x="571500" y="4188142"/>
              <a:ext cx="11049000" cy="279083"/>
              <a:chOff x="571500" y="4188142"/>
              <a:chExt cx="11049000" cy="279083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747712" y="4212431"/>
                <a:ext cx="6118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Llumnix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492300" y="4220528"/>
                <a:ext cx="5404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partial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962293" y="4220528"/>
                <a:ext cx="19819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partial (source must live)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691634" y="41881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984343" y="4220528"/>
                <a:ext cx="11768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 live migration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571500" y="44577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66" name="Group 66"/>
            <p:cNvGrpSpPr/>
            <p:nvPr/>
          </p:nvGrpSpPr>
          <p:grpSpPr>
            <a:xfrm>
              <a:off x="571500" y="4550092"/>
              <a:ext cx="11049000" cy="279083"/>
              <a:chOff x="571500" y="4550092"/>
              <a:chExt cx="11049000" cy="279083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747712" y="4574381"/>
                <a:ext cx="78438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Mooncake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4691134" y="45500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1884" y="45500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132421" y="4582478"/>
                <a:ext cx="12611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 (prefix cache)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0501384" y="45500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571500" y="48196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73" name="Group 73"/>
            <p:cNvGrpSpPr/>
            <p:nvPr/>
          </p:nvGrpSpPr>
          <p:grpSpPr>
            <a:xfrm>
              <a:off x="571500" y="4912042"/>
              <a:ext cx="11049000" cy="279083"/>
              <a:chOff x="571500" y="4912042"/>
              <a:chExt cx="11049000" cy="279083"/>
            </a:xfrm>
          </p:grpSpPr>
          <p:sp>
            <p:nvSpPr>
              <p:cNvPr id="67" name="TextBox 67"/>
              <p:cNvSpPr txBox="1"/>
              <p:nvPr/>
            </p:nvSpPr>
            <p:spPr>
              <a:xfrm>
                <a:off x="747712" y="4936331"/>
                <a:ext cx="83367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TokenFlow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3932563" y="4944428"/>
                <a:ext cx="1659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 same-engine resume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881884" y="49120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691634" y="49120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501384" y="49120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571500" y="51816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80" name="Group 80"/>
            <p:cNvGrpSpPr/>
            <p:nvPr/>
          </p:nvGrpSpPr>
          <p:grpSpPr>
            <a:xfrm>
              <a:off x="571500" y="5273992"/>
              <a:ext cx="11049000" cy="279083"/>
              <a:chOff x="571500" y="5273992"/>
              <a:chExt cx="11049000" cy="279083"/>
            </a:xfrm>
          </p:grpSpPr>
          <p:sp>
            <p:nvSpPr>
              <p:cNvPr id="74" name="TextBox 74"/>
              <p:cNvSpPr txBox="1"/>
              <p:nvPr/>
            </p:nvSpPr>
            <p:spPr>
              <a:xfrm>
                <a:off x="747712" y="5298281"/>
                <a:ext cx="8418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FastServe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4139589" y="5306378"/>
                <a:ext cx="12458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 skip-join MLFQ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881884" y="52739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009739" y="5306378"/>
                <a:ext cx="15065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partial (host swap)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0501384" y="52739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✗</a:t>
                </a: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571500" y="55435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rgbClr val="111827"/>
                </a:solidFill>
              </a:ln>
            </p:spPr>
          </p:sp>
        </p:grpSp>
        <p:grpSp>
          <p:nvGrpSpPr>
            <p:cNvPr id="87" name="Group 87"/>
            <p:cNvGrpSpPr/>
            <p:nvPr/>
          </p:nvGrpSpPr>
          <p:grpSpPr>
            <a:xfrm>
              <a:off x="571500" y="5572125"/>
              <a:ext cx="11049000" cy="419100"/>
              <a:chOff x="571500" y="5572125"/>
              <a:chExt cx="11049000" cy="4191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571500" y="5572125"/>
                <a:ext cx="11049000" cy="419100"/>
              </a:xfrm>
              <a:prstGeom prst="rect">
                <a:avLst/>
              </a:prstGeom>
              <a:solidFill>
                <a:srgbClr val="F3F4F6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746760" y="5709285"/>
                <a:ext cx="4721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Ours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680192" y="5676900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223375" y="5725478"/>
                <a:ext cx="14597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 (source can die)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680692" y="5676900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782493" y="5725478"/>
                <a:ext cx="1580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✓ checkpoint mirror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89" name="TextBox 89"/>
            <p:cNvSpPr txBox="1"/>
            <p:nvPr/>
          </p:nvSpPr>
          <p:spPr>
            <a:xfrm>
              <a:off x="561022" y="648319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676281" y="1505902"/>
            <a:ext cx="839438" cy="360998"/>
            <a:chOff x="5676281" y="1505902"/>
            <a:chExt cx="839438" cy="360998"/>
          </a:xfrm>
        </p:grpSpPr>
        <p:sp>
          <p:nvSpPr>
            <p:cNvPr id="3" name="TextBox 3"/>
            <p:cNvSpPr txBox="1"/>
            <p:nvPr/>
          </p:nvSpPr>
          <p:spPr>
            <a:xfrm>
              <a:off x="5676281" y="1505902"/>
              <a:ext cx="8394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KEY INSIGHT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0" y="18573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916103" y="2374582"/>
            <a:ext cx="6359795" cy="640080"/>
            <a:chOff x="2916103" y="2374582"/>
            <a:chExt cx="6359795" cy="640080"/>
          </a:xfrm>
        </p:grpSpPr>
        <p:sp>
          <p:nvSpPr>
            <p:cNvPr id="6" name="TextBox 6"/>
            <p:cNvSpPr txBox="1"/>
            <p:nvPr/>
          </p:nvSpPr>
          <p:spPr>
            <a:xfrm>
              <a:off x="2916103" y="2374582"/>
              <a:ext cx="635979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One mechanism. Two uses.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0069" y="3298508"/>
            <a:ext cx="10331863" cy="640080"/>
            <a:chOff x="930069" y="3298508"/>
            <a:chExt cx="10331863" cy="640080"/>
          </a:xfrm>
        </p:grpSpPr>
        <p:sp>
          <p:nvSpPr>
            <p:cNvPr id="8" name="TextBox 8"/>
            <p:cNvSpPr txBox="1"/>
            <p:nvPr/>
          </p:nvSpPr>
          <p:spPr>
            <a:xfrm>
              <a:off x="930069" y="3298508"/>
              <a:ext cx="103318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i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A single host-side KV checkpoint, async-published to</a:t>
              </a:r>
              <a:r>
                <a:rPr lang="zh-CN" sz="150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/dev/shm</a:t>
              </a:r>
              <a:r>
                <a:rPr lang="zh-CN" sz="1650" i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at block-aligned cadence,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11076" y="3603308"/>
              <a:ext cx="29698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i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simultaneously serves as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68830" y="4202430"/>
            <a:ext cx="9246893" cy="814864"/>
            <a:chOff x="2068830" y="4202430"/>
            <a:chExt cx="9246893" cy="814864"/>
          </a:xfrm>
        </p:grpSpPr>
        <p:grpSp>
          <p:nvGrpSpPr>
            <p:cNvPr id="15" name="Group 15"/>
            <p:cNvGrpSpPr/>
            <p:nvPr/>
          </p:nvGrpSpPr>
          <p:grpSpPr>
            <a:xfrm>
              <a:off x="2068830" y="4202430"/>
              <a:ext cx="4692444" cy="814864"/>
              <a:chOff x="2068830" y="4202430"/>
              <a:chExt cx="4692444" cy="81486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068830" y="4202430"/>
                <a:ext cx="48272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(i)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47950" y="4267200"/>
                <a:ext cx="225787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recovery substrate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50808" y="4548664"/>
                <a:ext cx="411046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when an engine dies — peer reads checkpoint,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50808" y="4758214"/>
                <a:ext cx="30583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resumes decode without reprefill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640830" y="4202430"/>
              <a:ext cx="4674893" cy="814864"/>
              <a:chOff x="6640830" y="4202430"/>
              <a:chExt cx="4674893" cy="81486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640830" y="4202430"/>
                <a:ext cx="57473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(ii)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267575" y="4267200"/>
                <a:ext cx="293646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cheap-preempt substrate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70432" y="4548664"/>
                <a:ext cx="40452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scheduler can preempt running long-context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270432" y="4758214"/>
                <a:ext cx="280697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decode without wasting prefill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4083368" y="5572125"/>
            <a:ext cx="4025265" cy="523875"/>
            <a:chOff x="4083368" y="5572125"/>
            <a:chExt cx="4025265" cy="523875"/>
          </a:xfrm>
        </p:grpSpPr>
        <p:sp>
          <p:nvSpPr>
            <p:cNvPr id="22" name="Line 22"/>
            <p:cNvSpPr/>
            <p:nvPr/>
          </p:nvSpPr>
          <p:spPr>
            <a:xfrm>
              <a:off x="5143500" y="557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83368" y="5791200"/>
              <a:ext cx="40252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i="1" dirty="0">
                  <a:solidFill>
                    <a:srgbClr val="4B5563"/>
                  </a:solidFill>
                  <a:latin typeface="Georgia"/>
                  <a:ea typeface="SimSun"/>
                  <a:cs typeface="Georgia"/>
                </a:rPr>
                <a:t>Same data. Two uses. No duplication.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25" name="TextBox 25"/>
            <p:cNvSpPr txBox="1"/>
            <p:nvPr/>
          </p:nvSpPr>
          <p:spPr>
            <a:xfrm>
              <a:off x="561022" y="648319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21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077575" cy="881063"/>
            <a:chOff x="542925" y="519112"/>
            <a:chExt cx="11077575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95113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Router + per-GPU engines + shared shm checkpoint store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82238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Same checkpoint data backs both same-engine preempt-and-resume and cross-engine recovery.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2762250"/>
            <a:ext cx="1143000" cy="571500"/>
            <a:chOff x="762000" y="2762250"/>
            <a:chExt cx="1143000" cy="571500"/>
          </a:xfrm>
        </p:grpSpPr>
        <p:sp>
          <p:nvSpPr>
            <p:cNvPr id="7" name="Rectangle 7"/>
            <p:cNvSpPr/>
            <p:nvPr/>
          </p:nvSpPr>
          <p:spPr>
            <a:xfrm>
              <a:off x="762000" y="2762250"/>
              <a:ext cx="1143000" cy="5715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1182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0628" y="2966085"/>
              <a:ext cx="545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Client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1905000" y="3048000"/>
            <a:ext cx="857250" cy="1"/>
          </a:xfrm>
          <a:prstGeom prst="line">
            <a:avLst/>
          </a:prstGeom>
          <a:noFill/>
          <a:ln w="14288">
            <a:solidFill>
              <a:srgbClr val="111827"/>
            </a:solidFill>
            <a:tailEnd type="triangle" w="lg" len="lg"/>
          </a:ln>
        </p:spPr>
      </p:sp>
      <p:grpSp>
        <p:nvGrpSpPr>
          <p:cNvPr id="23" name="Group 23"/>
          <p:cNvGrpSpPr/>
          <p:nvPr/>
        </p:nvGrpSpPr>
        <p:grpSpPr>
          <a:xfrm>
            <a:off x="2755416" y="2239934"/>
            <a:ext cx="1918668" cy="1284316"/>
            <a:chOff x="2755416" y="2239934"/>
            <a:chExt cx="1918668" cy="1284316"/>
          </a:xfrm>
        </p:grpSpPr>
        <p:grpSp>
          <p:nvGrpSpPr>
            <p:cNvPr id="17" name="Group 17"/>
            <p:cNvGrpSpPr/>
            <p:nvPr/>
          </p:nvGrpSpPr>
          <p:grpSpPr>
            <a:xfrm>
              <a:off x="2933700" y="2239934"/>
              <a:ext cx="176213" cy="169891"/>
              <a:chOff x="2933700" y="2239934"/>
              <a:chExt cx="176213" cy="16989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933700" y="2333625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57150"/>
                    </a:lnTo>
                    <a:cubicBezTo>
                      <a:pt x="171450" y="67671"/>
                      <a:pt x="162921" y="76200"/>
                      <a:pt x="15240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067050" y="2371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28950" y="2371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048000" y="23145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17044" y="2277255"/>
                <a:ext cx="61912" cy="1588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5889">
                    <a:moveTo>
                      <a:pt x="0" y="15889"/>
                    </a:moveTo>
                    <a:cubicBezTo>
                      <a:pt x="7156" y="5915"/>
                      <a:pt x="18680" y="0"/>
                      <a:pt x="30956" y="0"/>
                    </a:cubicBezTo>
                    <a:cubicBezTo>
                      <a:pt x="43232" y="0"/>
                      <a:pt x="54756" y="5915"/>
                      <a:pt x="61912" y="15889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986088" y="2239934"/>
                <a:ext cx="123825" cy="31778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1778">
                    <a:moveTo>
                      <a:pt x="0" y="31778"/>
                    </a:moveTo>
                    <a:cubicBezTo>
                      <a:pt x="14313" y="11830"/>
                      <a:pt x="37361" y="0"/>
                      <a:pt x="61912" y="0"/>
                    </a:cubicBezTo>
                    <a:cubicBezTo>
                      <a:pt x="86464" y="0"/>
                      <a:pt x="109512" y="11830"/>
                      <a:pt x="123825" y="31778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465195" y="2284095"/>
              <a:ext cx="1199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CPU-ONLY PROCESS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857500" y="2571750"/>
              <a:ext cx="1714500" cy="9525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11827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75942" y="2767489"/>
              <a:ext cx="6776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Router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55416" y="3037999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load balance · health watch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72895" y="3228499"/>
              <a:ext cx="1683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reroute on engine death</a:t>
              </a:r>
            </a:p>
          </p:txBody>
        </p:sp>
      </p:grpSp>
      <p:sp>
        <p:nvSpPr>
          <p:cNvPr id="24" name="Line 24"/>
          <p:cNvSpPr/>
          <p:nvPr/>
        </p:nvSpPr>
        <p:spPr>
          <a:xfrm flipV="1">
            <a:off x="4572000" y="2095500"/>
            <a:ext cx="1524000" cy="714375"/>
          </a:xfrm>
          <a:prstGeom prst="line">
            <a:avLst/>
          </a:prstGeom>
          <a:noFill/>
          <a:ln w="14288">
            <a:solidFill>
              <a:srgbClr val="111827"/>
            </a:solidFill>
            <a:tailEnd type="triangle" w="lg" len="lg"/>
          </a:ln>
        </p:spPr>
      </p:sp>
      <p:sp>
        <p:nvSpPr>
          <p:cNvPr id="25" name="Line 25"/>
          <p:cNvSpPr/>
          <p:nvPr/>
        </p:nvSpPr>
        <p:spPr>
          <a:xfrm>
            <a:off x="4572000" y="3238500"/>
            <a:ext cx="1524000" cy="762000"/>
          </a:xfrm>
          <a:prstGeom prst="line">
            <a:avLst/>
          </a:prstGeom>
          <a:noFill/>
          <a:ln w="14288">
            <a:solidFill>
              <a:srgbClr val="111827"/>
            </a:solidFill>
            <a:tailEnd type="triangle" w="lg" len="lg"/>
          </a:ln>
        </p:spPr>
      </p:sp>
      <p:grpSp>
        <p:nvGrpSpPr>
          <p:cNvPr id="42" name="Group 42"/>
          <p:cNvGrpSpPr/>
          <p:nvPr/>
        </p:nvGrpSpPr>
        <p:grpSpPr>
          <a:xfrm>
            <a:off x="6238875" y="1740694"/>
            <a:ext cx="2286000" cy="1212056"/>
            <a:chOff x="6238875" y="1740694"/>
            <a:chExt cx="2286000" cy="1212056"/>
          </a:xfrm>
        </p:grpSpPr>
        <p:grpSp>
          <p:nvGrpSpPr>
            <p:cNvPr id="36" name="Group 36"/>
            <p:cNvGrpSpPr/>
            <p:nvPr/>
          </p:nvGrpSpPr>
          <p:grpSpPr>
            <a:xfrm>
              <a:off x="6312694" y="1740694"/>
              <a:ext cx="157163" cy="157163"/>
              <a:chOff x="6312694" y="1740694"/>
              <a:chExt cx="157163" cy="15716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330156" y="1758156"/>
                <a:ext cx="122237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237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113506" y="0"/>
                    </a:lnTo>
                    <a:cubicBezTo>
                      <a:pt x="118328" y="0"/>
                      <a:pt x="122237" y="3909"/>
                      <a:pt x="122237" y="8731"/>
                    </a:cubicBezTo>
                    <a:lnTo>
                      <a:pt x="122237" y="113506"/>
                    </a:lnTo>
                    <a:cubicBezTo>
                      <a:pt x="122237" y="118328"/>
                      <a:pt x="118328" y="122237"/>
                      <a:pt x="113506" y="122237"/>
                    </a:cubicBezTo>
                    <a:lnTo>
                      <a:pt x="8731" y="122237"/>
                    </a:lnTo>
                    <a:cubicBezTo>
                      <a:pt x="3909" y="122237"/>
                      <a:pt x="0" y="118328"/>
                      <a:pt x="0" y="113506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365081" y="1793081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52388"/>
                    </a:lnTo>
                    <a:lnTo>
                      <a:pt x="0" y="523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312694" y="1801812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312694" y="1836738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373812" y="1740694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0"/>
                    </a:move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08738" y="1740694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0"/>
                    </a:move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52394" y="1801812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17463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52394" y="1836738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17463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08738" y="1880394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73812" y="1880394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1320" y="1788795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GPU 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38875" y="2000250"/>
              <a:ext cx="2286000" cy="9525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11827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4410" y="2148364"/>
              <a:ext cx="7949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Engine 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60417" y="2418874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vLLM step loop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541" y="2609374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slack-based scheduler hook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38875" y="3788569"/>
            <a:ext cx="2286000" cy="1212056"/>
            <a:chOff x="6238875" y="3788569"/>
            <a:chExt cx="2286000" cy="1212056"/>
          </a:xfrm>
        </p:grpSpPr>
        <p:grpSp>
          <p:nvGrpSpPr>
            <p:cNvPr id="53" name="Group 53"/>
            <p:cNvGrpSpPr/>
            <p:nvPr/>
          </p:nvGrpSpPr>
          <p:grpSpPr>
            <a:xfrm>
              <a:off x="6312694" y="3788569"/>
              <a:ext cx="157163" cy="157162"/>
              <a:chOff x="6312694" y="3788569"/>
              <a:chExt cx="157163" cy="1571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330156" y="3806031"/>
                <a:ext cx="122237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22238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113506" y="0"/>
                    </a:lnTo>
                    <a:cubicBezTo>
                      <a:pt x="118328" y="0"/>
                      <a:pt x="122237" y="3909"/>
                      <a:pt x="122237" y="8731"/>
                    </a:cubicBezTo>
                    <a:lnTo>
                      <a:pt x="122237" y="113506"/>
                    </a:lnTo>
                    <a:cubicBezTo>
                      <a:pt x="122237" y="118328"/>
                      <a:pt x="118328" y="122238"/>
                      <a:pt x="113506" y="122238"/>
                    </a:cubicBezTo>
                    <a:lnTo>
                      <a:pt x="8731" y="122238"/>
                    </a:lnTo>
                    <a:cubicBezTo>
                      <a:pt x="3909" y="122238"/>
                      <a:pt x="0" y="118328"/>
                      <a:pt x="0" y="113506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365081" y="3840956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52388"/>
                    </a:lnTo>
                    <a:lnTo>
                      <a:pt x="0" y="523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12694" y="3849688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312694" y="3884612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73812" y="3788569"/>
                <a:ext cx="95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">
                    <a:moveTo>
                      <a:pt x="0" y="0"/>
                    </a:move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08738" y="3788569"/>
                <a:ext cx="95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">
                    <a:moveTo>
                      <a:pt x="0" y="0"/>
                    </a:moveTo>
                    <a:lnTo>
                      <a:pt x="0" y="17462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52394" y="3849688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17463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52394" y="3884612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17463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08738" y="3928269"/>
                <a:ext cx="95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">
                    <a:moveTo>
                      <a:pt x="0" y="174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373812" y="3928269"/>
                <a:ext cx="9525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">
                    <a:moveTo>
                      <a:pt x="0" y="174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1320" y="3836670"/>
              <a:ext cx="3186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GPU 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38875" y="4048125"/>
              <a:ext cx="2286000" cy="9525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11827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08850" y="4196239"/>
              <a:ext cx="7460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Engine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60417" y="44667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vLLM step loop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22541" y="4657249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slack-based scheduler hook</a:t>
              </a:r>
            </a:p>
          </p:txBody>
        </p:sp>
      </p:grpSp>
      <p:sp>
        <p:nvSpPr>
          <p:cNvPr id="60" name="Line 60"/>
          <p:cNvSpPr/>
          <p:nvPr/>
        </p:nvSpPr>
        <p:spPr>
          <a:xfrm>
            <a:off x="8524875" y="2476500"/>
            <a:ext cx="1143000" cy="571500"/>
          </a:xfrm>
          <a:prstGeom prst="line">
            <a:avLst/>
          </a:prstGeom>
          <a:noFill/>
          <a:ln w="14288">
            <a:solidFill>
              <a:srgbClr val="4B5563"/>
            </a:solidFill>
            <a:custDash>
              <a:ds d="400000" sp="266666"/>
            </a:custDash>
            <a:tailEnd type="triangle" w="lg" len="lg"/>
          </a:ln>
        </p:spPr>
      </p:sp>
      <p:sp>
        <p:nvSpPr>
          <p:cNvPr id="61" name="Line 61"/>
          <p:cNvSpPr/>
          <p:nvPr/>
        </p:nvSpPr>
        <p:spPr>
          <a:xfrm flipV="1">
            <a:off x="8524875" y="3905250"/>
            <a:ext cx="1143000" cy="619125"/>
          </a:xfrm>
          <a:prstGeom prst="line">
            <a:avLst/>
          </a:prstGeom>
          <a:noFill/>
          <a:ln w="14288">
            <a:solidFill>
              <a:srgbClr val="4B5563"/>
            </a:solidFill>
            <a:custDash>
              <a:ds d="400000" sp="266666"/>
            </a:custDash>
            <a:tailEnd type="triangle" w="lg" len="lg"/>
          </a:ln>
        </p:spPr>
      </p:sp>
      <p:sp>
        <p:nvSpPr>
          <p:cNvPr id="62" name="Line 62"/>
          <p:cNvSpPr/>
          <p:nvPr/>
        </p:nvSpPr>
        <p:spPr>
          <a:xfrm>
            <a:off x="10858500" y="3048000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14288">
            <a:solidFill>
              <a:srgbClr val="4B5563"/>
            </a:solidFill>
            <a:custDash>
              <a:ds d="400000" sp="266666"/>
            </a:custDash>
          </a:ln>
        </p:spPr>
      </p:sp>
      <p:sp>
        <p:nvSpPr>
          <p:cNvPr id="63" name="Line 63"/>
          <p:cNvSpPr/>
          <p:nvPr/>
        </p:nvSpPr>
        <p:spPr>
          <a:xfrm flipH="1" flipV="1">
            <a:off x="8524875" y="2667000"/>
            <a:ext cx="1143000" cy="666750"/>
          </a:xfrm>
          <a:prstGeom prst="line">
            <a:avLst/>
          </a:prstGeom>
          <a:noFill/>
          <a:ln w="14288">
            <a:solidFill>
              <a:srgbClr val="4B5563"/>
            </a:solidFill>
            <a:custDash>
              <a:ds d="400000" sp="266666"/>
            </a:custDash>
            <a:tailEnd type="triangle" w="lg" len="lg"/>
          </a:ln>
        </p:spPr>
      </p:sp>
      <p:sp>
        <p:nvSpPr>
          <p:cNvPr id="64" name="Line 64"/>
          <p:cNvSpPr/>
          <p:nvPr/>
        </p:nvSpPr>
        <p:spPr>
          <a:xfrm flipH="1">
            <a:off x="8524875" y="3619500"/>
            <a:ext cx="1143000" cy="714375"/>
          </a:xfrm>
          <a:prstGeom prst="line">
            <a:avLst/>
          </a:prstGeom>
          <a:noFill/>
          <a:ln w="14288">
            <a:solidFill>
              <a:srgbClr val="4B5563"/>
            </a:solidFill>
            <a:custDash>
              <a:ds d="400000" sp="266666"/>
            </a:custDash>
            <a:tailEnd type="triangle" w="lg" len="lg"/>
          </a:ln>
        </p:spPr>
      </p:sp>
      <p:grpSp>
        <p:nvGrpSpPr>
          <p:cNvPr id="74" name="Group 74"/>
          <p:cNvGrpSpPr/>
          <p:nvPr/>
        </p:nvGrpSpPr>
        <p:grpSpPr>
          <a:xfrm>
            <a:off x="9667875" y="2931319"/>
            <a:ext cx="1809750" cy="1021556"/>
            <a:chOff x="9667875" y="2931319"/>
            <a:chExt cx="1809750" cy="1021556"/>
          </a:xfrm>
        </p:grpSpPr>
        <p:grpSp>
          <p:nvGrpSpPr>
            <p:cNvPr id="68" name="Group 68"/>
            <p:cNvGrpSpPr/>
            <p:nvPr/>
          </p:nvGrpSpPr>
          <p:grpSpPr>
            <a:xfrm>
              <a:off x="9750425" y="2931319"/>
              <a:ext cx="139700" cy="157162"/>
              <a:chOff x="9750425" y="2931319"/>
              <a:chExt cx="139700" cy="157162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750425" y="2931319"/>
                <a:ext cx="139700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2388">
                    <a:moveTo>
                      <a:pt x="0" y="26194"/>
                    </a:moveTo>
                    <a:cubicBezTo>
                      <a:pt x="0" y="40660"/>
                      <a:pt x="31273" y="52388"/>
                      <a:pt x="69850" y="52388"/>
                    </a:cubicBezTo>
                    <a:cubicBezTo>
                      <a:pt x="108427" y="52388"/>
                      <a:pt x="139700" y="40660"/>
                      <a:pt x="139700" y="26194"/>
                    </a:cubicBezTo>
                    <a:cubicBezTo>
                      <a:pt x="139700" y="11727"/>
                      <a:pt x="108427" y="0"/>
                      <a:pt x="69850" y="0"/>
                    </a:cubicBezTo>
                    <a:cubicBezTo>
                      <a:pt x="31273" y="0"/>
                      <a:pt x="0" y="11727"/>
                      <a:pt x="0" y="26194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750425" y="2957512"/>
                <a:ext cx="139700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78581">
                    <a:moveTo>
                      <a:pt x="0" y="0"/>
                    </a:moveTo>
                    <a:lnTo>
                      <a:pt x="0" y="52388"/>
                    </a:lnTo>
                    <a:cubicBezTo>
                      <a:pt x="0" y="66854"/>
                      <a:pt x="31273" y="78581"/>
                      <a:pt x="69850" y="78581"/>
                    </a:cubicBezTo>
                    <a:cubicBezTo>
                      <a:pt x="108427" y="78581"/>
                      <a:pt x="139700" y="66854"/>
                      <a:pt x="139700" y="52388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750425" y="3009900"/>
                <a:ext cx="139700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78581">
                    <a:moveTo>
                      <a:pt x="0" y="0"/>
                    </a:moveTo>
                    <a:lnTo>
                      <a:pt x="0" y="52388"/>
                    </a:lnTo>
                    <a:cubicBezTo>
                      <a:pt x="0" y="66854"/>
                      <a:pt x="31273" y="78581"/>
                      <a:pt x="69850" y="78581"/>
                    </a:cubicBezTo>
                    <a:cubicBezTo>
                      <a:pt x="108427" y="78581"/>
                      <a:pt x="139700" y="66854"/>
                      <a:pt x="139700" y="52388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227945" y="2979420"/>
              <a:ext cx="620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HOST RAM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667875" y="3190875"/>
              <a:ext cx="1809750" cy="762000"/>
            </a:xfrm>
            <a:prstGeom prst="rect">
              <a:avLst/>
            </a:prstGeom>
            <a:solidFill>
              <a:srgbClr val="F3F4F6"/>
            </a:solidFill>
            <a:ln w="14288">
              <a:solidFill>
                <a:srgbClr val="111827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189069" y="3363278"/>
              <a:ext cx="7673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/dev/shm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34134" y="3561874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KV checkpoint mirror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44814" y="3733324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+ engine status files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62000" y="5220652"/>
            <a:ext cx="4526185" cy="213360"/>
            <a:chOff x="762000" y="5220652"/>
            <a:chExt cx="4526185" cy="213360"/>
          </a:xfrm>
        </p:grpSpPr>
        <p:sp>
          <p:nvSpPr>
            <p:cNvPr id="75" name="Line 75"/>
            <p:cNvSpPr/>
            <p:nvPr/>
          </p:nvSpPr>
          <p:spPr>
            <a:xfrm>
              <a:off x="762000" y="52863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111827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224915" y="5220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request flow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2667000" y="52863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  <a:custDash>
                <a:ds d="400000" sp="266666"/>
              </a:custDash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129915" y="5220652"/>
              <a:ext cx="2158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checkpoint publish / restore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5715000"/>
            <a:ext cx="11049000" cy="685800"/>
            <a:chOff x="571500" y="5715000"/>
            <a:chExt cx="11049000" cy="685800"/>
          </a:xfrm>
        </p:grpSpPr>
        <p:sp>
          <p:nvSpPr>
            <p:cNvPr id="80" name="Line 80"/>
            <p:cNvSpPr/>
            <p:nvPr/>
          </p:nvSpPr>
          <p:spPr>
            <a:xfrm>
              <a:off x="571500" y="5715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46760" y="5918835"/>
              <a:ext cx="106161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· Two tiers under</a:t>
              </a:r>
              <a:r>
                <a:rPr lang="zh-CN" sz="120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/dev/shm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: in-process</a:t>
              </a:r>
              <a:r>
                <a:rPr lang="zh-CN" sz="1200" i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pinned-memory pool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for same-engine resume + shm mirror for cross-engine restore.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6760" y="6156960"/>
              <a:ext cx="9590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· Router watches engine health via shm status file (heartbeat thread, polled every 500 ms); reroute on death.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84" name="TextBox 84"/>
            <p:cNvSpPr txBox="1"/>
            <p:nvPr/>
          </p:nvSpPr>
          <p:spPr>
            <a:xfrm>
              <a:off x="561022" y="657844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  <p:bldP spid="42" grpId="0"/>
      <p:bldP spid="59" grpId="0"/>
      <p:bldP spid="74" grpId="0"/>
      <p:bldP spid="79" grpId="0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077575" cy="881063"/>
            <a:chOff x="542925" y="519112"/>
            <a:chExt cx="11077575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66647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Block-aligned, two-tier, async pipeline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7312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Naive sync publish costs ~30% TTFT. The four-stage pipeline drives that to negligible.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59118" y="1609249"/>
            <a:ext cx="10585132" cy="1057751"/>
            <a:chOff x="559118" y="1609249"/>
            <a:chExt cx="10585132" cy="1057751"/>
          </a:xfrm>
        </p:grpSpPr>
        <p:sp>
          <p:nvSpPr>
            <p:cNvPr id="7" name="TextBox 7"/>
            <p:cNvSpPr txBox="1"/>
            <p:nvPr/>
          </p:nvSpPr>
          <p:spPr>
            <a:xfrm>
              <a:off x="559118" y="1609249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ASYNC PUBLISH PIPELINE · 4 STAGES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71500" y="1905000"/>
              <a:ext cx="2286000" cy="762000"/>
              <a:chOff x="571500" y="1905000"/>
              <a:chExt cx="2286000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905000"/>
                <a:ext cx="2286000" cy="76200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06865" y="2045970"/>
                <a:ext cx="10152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STAGE 1 · ENGINE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0345" y="2267902"/>
                <a:ext cx="1548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Future + depth-1 BP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4513" y="2474595"/>
                <a:ext cx="20799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eager num_checkpointed_tokens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2857500" y="2286000"/>
              <a:ext cx="428625" cy="1"/>
            </a:xfrm>
            <a:prstGeom prst="line">
              <a:avLst/>
            </a:prstGeom>
            <a:noFill/>
            <a:ln w="14288">
              <a:solidFill>
                <a:srgbClr val="111827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333750" y="1905000"/>
              <a:ext cx="2286000" cy="762000"/>
              <a:chOff x="3333750" y="1905000"/>
              <a:chExt cx="2286000" cy="762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333750" y="1905000"/>
                <a:ext cx="2286000" cy="76200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909965" y="2045970"/>
                <a:ext cx="11335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STAGE 2 · WORKER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795181" y="2267902"/>
                <a:ext cx="1363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GPU batch gather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863959" y="2474595"/>
                <a:ext cx="12255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one async H2D copy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5619750" y="2286000"/>
              <a:ext cx="428625" cy="1"/>
            </a:xfrm>
            <a:prstGeom prst="line">
              <a:avLst/>
            </a:prstGeom>
            <a:noFill/>
            <a:ln w="14288">
              <a:solidFill>
                <a:srgbClr val="111827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096000" y="1905000"/>
              <a:ext cx="2286000" cy="762000"/>
              <a:chOff x="6096000" y="1905000"/>
              <a:chExt cx="2286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096000" y="1905000"/>
                <a:ext cx="2286000" cy="76200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596634" y="2045970"/>
                <a:ext cx="12847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STAGE 3 · SHM WRITE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88998" y="2267902"/>
                <a:ext cx="15000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ctypes → libc write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714934" y="2474595"/>
                <a:ext cx="10481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releases the GIL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8382000" y="2286000"/>
              <a:ext cx="428625" cy="1"/>
            </a:xfrm>
            <a:prstGeom prst="line">
              <a:avLst/>
            </a:prstGeom>
            <a:noFill/>
            <a:ln w="14288">
              <a:solidFill>
                <a:srgbClr val="111827"/>
              </a:solidFill>
              <a:tailEnd type="triangle" w="lg" len="lg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858250" y="1905000"/>
              <a:ext cx="2286000" cy="762000"/>
              <a:chOff x="8858250" y="1905000"/>
              <a:chExt cx="2286000" cy="762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858250" y="1905000"/>
                <a:ext cx="2286000" cy="76200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411462" y="2045970"/>
                <a:ext cx="11795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STAGE 4 · RESTORE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215018" y="2267902"/>
                <a:ext cx="15724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shared CUDA stream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61263" y="2474595"/>
                <a:ext cx="20799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batch-end flush, dyn. mem est.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556260" y="3085624"/>
            <a:ext cx="5340858" cy="1300638"/>
            <a:chOff x="556260" y="3085624"/>
            <a:chExt cx="5340858" cy="1300638"/>
          </a:xfrm>
        </p:grpSpPr>
        <p:sp>
          <p:nvSpPr>
            <p:cNvPr id="32" name="TextBox 32"/>
            <p:cNvSpPr txBox="1"/>
            <p:nvPr/>
          </p:nvSpPr>
          <p:spPr>
            <a:xfrm>
              <a:off x="559118" y="3085624"/>
              <a:ext cx="872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WHAT / WHEN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71500" y="32861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6260" y="3470910"/>
              <a:ext cx="39563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Every</a:t>
              </a:r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16 tokens decoded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(= one vLLM KV block):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6260" y="3699510"/>
              <a:ext cx="5340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save K/V of newly-stable blocks —</a:t>
              </a:r>
              <a:r>
                <a:rPr lang="zh-CN" sz="1200" i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per-block delta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, not full KV.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8165" y="3982402"/>
              <a:ext cx="48726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Block alignment is mandatory — vLLM allocates KV in fixed blocks;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8165" y="4172902"/>
              <a:ext cx="3017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a partial block has no defined boundary.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6260" y="4657249"/>
            <a:ext cx="5349621" cy="1157763"/>
            <a:chOff x="556260" y="4657249"/>
            <a:chExt cx="5349621" cy="1157763"/>
          </a:xfrm>
        </p:grpSpPr>
        <p:sp>
          <p:nvSpPr>
            <p:cNvPr id="39" name="TextBox 39"/>
            <p:cNvSpPr txBox="1"/>
            <p:nvPr/>
          </p:nvSpPr>
          <p:spPr>
            <a:xfrm>
              <a:off x="559118" y="465724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TWO TIERS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48577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6260" y="5042535"/>
              <a:ext cx="511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Layer 1.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In-process pinned host pool —</a:t>
              </a:r>
              <a:r>
                <a:rPr lang="zh-CN" sz="1200" i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sub-ms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, same-engine.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6260" y="5280660"/>
              <a:ext cx="53496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Layer 2.</a:t>
              </a:r>
              <a:r>
                <a:rPr lang="zh-CN" sz="120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/dev/shm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mirror — atomic tmp+rename, cross-engine.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8165" y="5601652"/>
              <a:ext cx="43895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Identical data in both tiers; only the access path differs.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69355" y="3085624"/>
            <a:ext cx="5351145" cy="3091338"/>
            <a:chOff x="6269355" y="3085624"/>
            <a:chExt cx="5351145" cy="3091338"/>
          </a:xfrm>
        </p:grpSpPr>
        <p:sp>
          <p:nvSpPr>
            <p:cNvPr id="45" name="TextBox 45"/>
            <p:cNvSpPr txBox="1"/>
            <p:nvPr/>
          </p:nvSpPr>
          <p:spPr>
            <a:xfrm>
              <a:off x="6274118" y="308562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CORRECTNESS INVARIANTS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286500" y="328612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269355" y="3454718"/>
              <a:ext cx="4529538" cy="693420"/>
              <a:chOff x="6269355" y="3454718"/>
              <a:chExt cx="4529538" cy="693420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269355" y="3454718"/>
                <a:ext cx="3596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(a)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747510" y="3470910"/>
                <a:ext cx="40513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"latest" pointer updates only after rename.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749415" y="3744278"/>
                <a:ext cx="35154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Cross-engine restore never observes a partial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749415" y="3934778"/>
                <a:ext cx="35154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chunk; reader sees the previous good version.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269355" y="4378642"/>
              <a:ext cx="3980164" cy="883920"/>
              <a:chOff x="6269355" y="4378642"/>
              <a:chExt cx="3980164" cy="883920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6269355" y="4378642"/>
                <a:ext cx="3596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(b)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747510" y="4394835"/>
                <a:ext cx="32416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Eager-counter gap = decode replay.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749415" y="4668202"/>
                <a:ext cx="33927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If engine dies before publish completes, peer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749415" y="4858702"/>
                <a:ext cx="35001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reads older "latest", restores fewer tokens.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49415" y="5049202"/>
                <a:ext cx="29096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Reload state machine absorbs the gap.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273165" y="5572125"/>
              <a:ext cx="5347335" cy="604837"/>
              <a:chOff x="6273165" y="5572125"/>
              <a:chExt cx="5347335" cy="604837"/>
            </a:xfrm>
          </p:grpSpPr>
          <p:sp>
            <p:nvSpPr>
              <p:cNvPr id="58" name="Line 58"/>
              <p:cNvSpPr/>
              <p:nvPr/>
            </p:nvSpPr>
            <p:spPr>
              <a:xfrm>
                <a:off x="6286500" y="5572125"/>
                <a:ext cx="533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9525">
                    <a:moveTo>
                      <a:pt x="0" y="0"/>
                    </a:moveTo>
                    <a:lnTo>
                      <a:pt x="5334000" y="0"/>
                    </a:lnTo>
                  </a:path>
                </a:pathLst>
              </a:custGeom>
              <a:noFill/>
              <a:ln w="9525">
                <a:solidFill>
                  <a:srgbClr val="D1D5DB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273165" y="5744528"/>
                <a:ext cx="30553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Healthy-load TTFT P50 vs no-FT baseline: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273165" y="5963602"/>
                <a:ext cx="25186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+ ~30 ms</a:t>
                </a:r>
                <a:r>
                  <a:rPr lang="zh-CN" sz="105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· throughput within 0.5%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63" name="TextBox 63"/>
            <p:cNvSpPr txBox="1"/>
            <p:nvPr/>
          </p:nvSpPr>
          <p:spPr>
            <a:xfrm>
              <a:off x="561022" y="657844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/>
      <p:bldP spid="44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2254424" cy="881063"/>
            <a:chOff x="542925" y="519112"/>
            <a:chExt cx="12254424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122544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Pick laziest tail, admit most urgent head — measurement, not prediction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71197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Slack is computed from runtime measurements — no offline-profiled latency model.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676400"/>
            <a:ext cx="7179945" cy="4500562"/>
            <a:chOff x="552450" y="1676400"/>
            <a:chExt cx="7179945" cy="4500562"/>
          </a:xfrm>
        </p:grpSpPr>
        <p:grpSp>
          <p:nvGrpSpPr>
            <p:cNvPr id="11" name="Group 11"/>
            <p:cNvGrpSpPr/>
            <p:nvPr/>
          </p:nvGrpSpPr>
          <p:grpSpPr>
            <a:xfrm>
              <a:off x="628650" y="1676400"/>
              <a:ext cx="114300" cy="171450"/>
              <a:chOff x="628650" y="1676400"/>
              <a:chExt cx="11430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33412" y="1714500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33412" y="1809750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28650" y="1762125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76200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76200"/>
                    </a:lnTo>
                    <a:cubicBezTo>
                      <a:pt x="114300" y="81461"/>
                      <a:pt x="110036" y="85725"/>
                      <a:pt x="104775" y="85725"/>
                    </a:cubicBezTo>
                    <a:lnTo>
                      <a:pt x="9525" y="85725"/>
                    </a:lnTo>
                    <a:cubicBezTo>
                      <a:pt x="4264" y="85725"/>
                      <a:pt x="0" y="81461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28650" y="167640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9525"/>
                    </a:moveTo>
                    <a:lnTo>
                      <a:pt x="0" y="28575"/>
                    </a:lnTo>
                    <a:cubicBezTo>
                      <a:pt x="0" y="60138"/>
                      <a:pt x="25587" y="85725"/>
                      <a:pt x="57150" y="85725"/>
                    </a:cubicBezTo>
                    <a:cubicBezTo>
                      <a:pt x="88713" y="85725"/>
                      <a:pt x="114300" y="60138"/>
                      <a:pt x="114300" y="28575"/>
                    </a:cubicBezTo>
                    <a:lnTo>
                      <a:pt x="114300" y="9525"/>
                    </a:lnTo>
                    <a:cubicBezTo>
                      <a:pt x="114300" y="4264"/>
                      <a:pt x="110036" y="0"/>
                      <a:pt x="104775" y="0"/>
                    </a:cubicBezTo>
                    <a:lnTo>
                      <a:pt x="9525" y="0"/>
                    </a:ln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492" y="1723549"/>
              <a:ext cx="7296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DEFINITION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2450" y="1981200"/>
              <a:ext cx="71799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i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slack(r, t) = wall-clock remaining before request r misses its SLO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2381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8165" y="2601278"/>
              <a:ext cx="1284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PRE-FIRST-TOKEN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5308" y="2862739"/>
              <a:ext cx="35052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slack = S_TTFT − elapsed_since_arrival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8165" y="3363278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POST-FIRST-TOKEN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5308" y="3624739"/>
              <a:ext cx="36263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slack = S_TPOT − avg_per_token_so_far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40957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6260" y="4299585"/>
              <a:ext cx="40088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Both SLOs collapse into one comparable signal.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6260" y="4537710"/>
              <a:ext cx="42016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Picker walks running &amp; waiting queues each step: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6260" y="4871085"/>
              <a:ext cx="38511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· victim ←</a:t>
              </a:r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max slack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in running (most relaxed)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6260" y="5128260"/>
              <a:ext cx="36057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· head ←</a:t>
              </a:r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min slack</a:t>
              </a:r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in waiting (most urgent)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8165" y="5744528"/>
              <a:ext cx="2326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Defaults:</a:t>
              </a:r>
              <a:r>
                <a:rPr lang="zh-CN" sz="1050" dirty="0">
                  <a:solidFill>
                    <a:srgbClr val="4B5563"/>
                  </a:solidFill>
                  <a:latin typeface="Consolas"/>
                  <a:ea typeface="Microsoft YaHei"/>
                  <a:cs typeface="Consolas"/>
                </a:rPr>
                <a:t>δ = 1 s</a:t>
              </a:r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,</a:t>
              </a:r>
              <a:r>
                <a:rPr lang="zh-CN" sz="1050" dirty="0">
                  <a:solidFill>
                    <a:srgbClr val="4B5563"/>
                  </a:solidFill>
                  <a:latin typeface="Consolas"/>
                  <a:ea typeface="Microsoft YaHei"/>
                  <a:cs typeface="Consolas"/>
                </a:rPr>
                <a:t>cooldown = 5 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8165" y="5963602"/>
              <a:ext cx="3875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— tuned on E_M2 budget, stable across our sweeps.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1619250"/>
            <a:ext cx="9525" cy="4572000"/>
            <a:chOff x="6286500" y="1619250"/>
            <a:chExt cx="9525" cy="4572000"/>
          </a:xfrm>
        </p:grpSpPr>
        <p:sp>
          <p:nvSpPr>
            <p:cNvPr id="27" name="Line 27"/>
            <p:cNvSpPr/>
            <p:nvPr/>
          </p:nvSpPr>
          <p:spPr>
            <a:xfrm>
              <a:off x="6286500" y="161925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555105" y="1723549"/>
            <a:ext cx="5911548" cy="4710589"/>
            <a:chOff x="6555105" y="1723549"/>
            <a:chExt cx="5911548" cy="4710589"/>
          </a:xfrm>
        </p:grpSpPr>
        <p:sp>
          <p:nvSpPr>
            <p:cNvPr id="29" name="TextBox 29"/>
            <p:cNvSpPr txBox="1"/>
            <p:nvPr/>
          </p:nvSpPr>
          <p:spPr>
            <a:xfrm>
              <a:off x="6559868" y="172354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PICKER RULE — PREEMPT IFF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72250" y="2000250"/>
              <a:ext cx="5048250" cy="1095375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00838" y="2164556"/>
              <a:ext cx="43498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slack(victim) − slack(head) &gt; δ + replay_cost(victim)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0838" y="2412206"/>
              <a:ext cx="33229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AND</a:t>
              </a:r>
              <a:r>
                <a:rPr lang="zh-CN" sz="112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num_checkpointed_tokens(victim) &gt;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0838" y="2669381"/>
              <a:ext cx="3897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AND</a:t>
              </a:r>
              <a:r>
                <a:rPr lang="zh-CN" sz="1125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time_since_last_preempt(victim) &gt; cooldown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3695" y="2912745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replay_cost = extra TPOT × tokens new engine recomputes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9868" y="3466624"/>
              <a:ext cx="30792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THREE GUARDS — EACH KILLS ONE FAILURE MODE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572250" y="36671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55105" y="3854768"/>
              <a:ext cx="4525756" cy="483870"/>
              <a:chOff x="6555105" y="3854768"/>
              <a:chExt cx="4525756" cy="48387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6555105" y="3854768"/>
                <a:ext cx="2018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1.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842760" y="3870960"/>
                <a:ext cx="11530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Hysteresis δ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44665" y="4125278"/>
                <a:ext cx="42361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blocks back-and-forth thrashing on similar-slack pairs.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555105" y="4473892"/>
              <a:ext cx="4702111" cy="483870"/>
              <a:chOff x="6555105" y="4473892"/>
              <a:chExt cx="4702111" cy="483870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555105" y="4473892"/>
                <a:ext cx="2511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2.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42760" y="4490085"/>
                <a:ext cx="185230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replay_cost(victim)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844665" y="4744402"/>
                <a:ext cx="44125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ensures only favorable trades fire — net slack must go up.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555105" y="5093018"/>
              <a:ext cx="4165378" cy="483870"/>
              <a:chOff x="6555105" y="5093018"/>
              <a:chExt cx="4165378" cy="483870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6555105" y="5093018"/>
                <a:ext cx="2511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i="1" dirty="0">
                    <a:solidFill>
                      <a:srgbClr val="111827"/>
                    </a:solidFill>
                    <a:latin typeface="Georgia"/>
                    <a:ea typeface="SimSun"/>
                    <a:cs typeface="Georgia"/>
                  </a:rPr>
                  <a:t>3.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42760" y="5109210"/>
                <a:ext cx="830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cooldown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844665" y="5363528"/>
                <a:ext cx="3875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prevents reprocessing the same victim every step.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6572250" y="5857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8915" y="6030278"/>
              <a:ext cx="55396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Where prior work used offline gates (Scorpio α/β/γ/δ, JITServe v_token,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58915" y="6220778"/>
              <a:ext cx="5907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Llumnix headroom), we observe slack drift at runtime and correct reactively.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61022" y="657844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357312" cy="881063"/>
            <a:chOff x="542925" y="519112"/>
            <a:chExt cx="11357312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113573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Heartbeat → reroute → reload state machine on the surviving engine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85043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All in-flight requests on the dead engine recover in one V3 batch — sub-ms spread across requests.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59118" y="1609249"/>
            <a:ext cx="6679882" cy="3677126"/>
            <a:chOff x="559118" y="1609249"/>
            <a:chExt cx="6679882" cy="3677126"/>
          </a:xfrm>
        </p:grpSpPr>
        <p:sp>
          <p:nvSpPr>
            <p:cNvPr id="7" name="TextBox 7"/>
            <p:cNvSpPr txBox="1"/>
            <p:nvPr/>
          </p:nvSpPr>
          <p:spPr>
            <a:xfrm>
              <a:off x="559118" y="1609249"/>
              <a:ext cx="679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SEQUENCE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71500" y="1905000"/>
              <a:ext cx="1333500" cy="3381375"/>
              <a:chOff x="571500" y="1905000"/>
              <a:chExt cx="1333500" cy="33813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905000"/>
                <a:ext cx="1333500" cy="32385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09672" y="2009299"/>
                <a:ext cx="10571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Engine 0 (dies)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1238250" y="2228850"/>
                <a:ext cx="9525" cy="3057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57525">
                    <a:moveTo>
                      <a:pt x="0" y="0"/>
                    </a:moveTo>
                    <a:lnTo>
                      <a:pt x="0" y="3057525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  <a:custDash>
                  <a:ds d="300000" sp="300000"/>
                </a:custDash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33758" y="2577941"/>
                <a:ext cx="100898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heartbeat 200ms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1095375" y="31908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0"/>
                    </a:moveTo>
                    <a:lnTo>
                      <a:pt x="285750" y="28575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095375" y="31908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2857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25950" y="3673316"/>
                <a:ext cx="42460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SIGKILL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095500" y="1905000"/>
              <a:ext cx="1524000" cy="3381375"/>
              <a:chOff x="2095500" y="1905000"/>
              <a:chExt cx="1524000" cy="338137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95500" y="1905000"/>
                <a:ext cx="1524000" cy="32385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610160" y="2009299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Router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857500" y="2228850"/>
                <a:ext cx="9525" cy="3057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57525">
                    <a:moveTo>
                      <a:pt x="0" y="0"/>
                    </a:moveTo>
                    <a:lnTo>
                      <a:pt x="0" y="3057525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  <a:custDash>
                  <a:ds d="300000" sp="300000"/>
                </a:custDash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548807" y="2435066"/>
                <a:ext cx="6173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poll 500ms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184321" y="4006691"/>
                <a:ext cx="13463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timestamp &gt; 2 s ⇒ dead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810000" y="1905000"/>
              <a:ext cx="1714500" cy="3381375"/>
              <a:chOff x="3810000" y="1905000"/>
              <a:chExt cx="1714500" cy="338137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810000" y="1905000"/>
                <a:ext cx="1714500" cy="32385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327350" y="2009299"/>
                <a:ext cx="679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/dev/shm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4667250" y="2228850"/>
                <a:ext cx="9525" cy="3057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57525">
                    <a:moveTo>
                      <a:pt x="0" y="0"/>
                    </a:moveTo>
                    <a:lnTo>
                      <a:pt x="0" y="3057525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  <a:custDash>
                  <a:ds d="300000" sp="300000"/>
                </a:custDash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715000" y="1905000"/>
              <a:ext cx="1524000" cy="3381375"/>
              <a:chOff x="5715000" y="1905000"/>
              <a:chExt cx="1524000" cy="338137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0" y="1905000"/>
                <a:ext cx="1524000" cy="323850"/>
              </a:xfrm>
              <a:prstGeom prst="rect">
                <a:avLst/>
              </a:prstGeom>
              <a:solidFill>
                <a:srgbClr val="F3F4F6"/>
              </a:solidFill>
              <a:ln w="14288">
                <a:solidFill>
                  <a:srgbClr val="111827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809583" y="2009299"/>
                <a:ext cx="13348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Engine 1 (survives)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6477000" y="2228850"/>
                <a:ext cx="9525" cy="3057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57525">
                    <a:moveTo>
                      <a:pt x="0" y="0"/>
                    </a:moveTo>
                    <a:lnTo>
                      <a:pt x="0" y="3057525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  <a:custDash>
                  <a:ds d="300000" sp="300000"/>
                </a:custDash>
              </a:ln>
            </p:spPr>
          </p:sp>
        </p:grpSp>
        <p:sp>
          <p:nvSpPr>
            <p:cNvPr id="30" name="Line 30"/>
            <p:cNvSpPr/>
            <p:nvPr/>
          </p:nvSpPr>
          <p:spPr>
            <a:xfrm>
              <a:off x="1285875" y="2762250"/>
              <a:ext cx="3333750" cy="1"/>
            </a:xfrm>
            <a:prstGeom prst="line">
              <a:avLst/>
            </a:prstGeom>
            <a:noFill/>
            <a:ln w="11430">
              <a:solidFill>
                <a:srgbClr val="4B5563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942272" y="2625566"/>
              <a:ext cx="22440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heartbeat file write (daemon thread)</a:t>
              </a:r>
            </a:p>
          </p:txBody>
        </p:sp>
        <p:sp>
          <p:nvSpPr>
            <p:cNvPr id="32" name="Line 32"/>
            <p:cNvSpPr/>
            <p:nvPr/>
          </p:nvSpPr>
          <p:spPr>
            <a:xfrm flipH="1">
              <a:off x="2905125" y="3048000"/>
              <a:ext cx="1809750" cy="1"/>
            </a:xfrm>
            <a:prstGeom prst="line">
              <a:avLst/>
            </a:prstGeom>
            <a:noFill/>
            <a:ln w="11430">
              <a:solidFill>
                <a:srgbClr val="4B5563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13772" y="2920841"/>
              <a:ext cx="7198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read status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857500" y="4381500"/>
              <a:ext cx="3571875" cy="1"/>
            </a:xfrm>
            <a:prstGeom prst="line">
              <a:avLst/>
            </a:prstGeom>
            <a:noFill/>
            <a:ln w="14288">
              <a:solidFill>
                <a:srgbClr val="111827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36695" y="4236720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re-forward in_flight requests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37648" y="4463891"/>
              <a:ext cx="31778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B5563"/>
                  </a:solidFill>
                  <a:latin typeface="Consolas"/>
                  <a:ea typeface="Microsoft YaHei"/>
                  <a:cs typeface="Consolas"/>
                </a:rPr>
                <a:t>is_rerouted=True, internal_req_id, num_ckpt_tokens</a:t>
              </a:r>
            </a:p>
          </p:txBody>
        </p:sp>
        <p:sp>
          <p:nvSpPr>
            <p:cNvPr id="37" name="Line 37"/>
            <p:cNvSpPr/>
            <p:nvPr/>
          </p:nvSpPr>
          <p:spPr>
            <a:xfrm flipH="1">
              <a:off x="4714875" y="4953000"/>
              <a:ext cx="1714500" cy="1"/>
            </a:xfrm>
            <a:prstGeom prst="line">
              <a:avLst/>
            </a:prstGeom>
            <a:noFill/>
            <a:ln w="14288">
              <a:solidFill>
                <a:srgbClr val="111827"/>
              </a:solidFill>
              <a:tailEnd type="triangle" w="lg" len="lg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51070" y="4808220"/>
              <a:ext cx="1219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restore_kv_blocks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0" y="1619250"/>
            <a:ext cx="9525" cy="4095750"/>
            <a:chOff x="7620000" y="1619250"/>
            <a:chExt cx="9525" cy="4095750"/>
          </a:xfrm>
        </p:grpSpPr>
        <p:sp>
          <p:nvSpPr>
            <p:cNvPr id="40" name="Line 40"/>
            <p:cNvSpPr/>
            <p:nvPr/>
          </p:nvSpPr>
          <p:spPr>
            <a:xfrm>
              <a:off x="7620000" y="16192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7890510" y="1720424"/>
            <a:ext cx="3831717" cy="3999338"/>
            <a:chOff x="7890510" y="1720424"/>
            <a:chExt cx="3831717" cy="3999338"/>
          </a:xfrm>
        </p:grpSpPr>
        <p:grpSp>
          <p:nvGrpSpPr>
            <p:cNvPr id="50" name="Group 50"/>
            <p:cNvGrpSpPr/>
            <p:nvPr/>
          </p:nvGrpSpPr>
          <p:grpSpPr>
            <a:xfrm>
              <a:off x="7890510" y="1720424"/>
              <a:ext cx="3149298" cy="1141838"/>
              <a:chOff x="7890510" y="1720424"/>
              <a:chExt cx="3149298" cy="1141838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7932380" y="1720424"/>
                <a:ext cx="161109" cy="164808"/>
                <a:chOff x="7932380" y="1720424"/>
                <a:chExt cx="161109" cy="164808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8010525" y="1765300"/>
                  <a:ext cx="17463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52388">
                      <a:moveTo>
                        <a:pt x="0" y="0"/>
                      </a:moveTo>
                      <a:lnTo>
                        <a:pt x="0" y="34925"/>
                      </a:lnTo>
                      <a:lnTo>
                        <a:pt x="17463" y="52388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932380" y="1720424"/>
                  <a:ext cx="161109" cy="164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109" h="164808">
                      <a:moveTo>
                        <a:pt x="0" y="71069"/>
                      </a:moveTo>
                      <a:cubicBezTo>
                        <a:pt x="4051" y="31302"/>
                        <a:pt x="37309" y="913"/>
                        <a:pt x="77279" y="457"/>
                      </a:cubicBezTo>
                      <a:cubicBezTo>
                        <a:pt x="117249" y="0"/>
                        <a:pt x="151193" y="29622"/>
                        <a:pt x="156151" y="69286"/>
                      </a:cubicBezTo>
                      <a:cubicBezTo>
                        <a:pt x="161109" y="108950"/>
                        <a:pt x="135501" y="146016"/>
                        <a:pt x="96649" y="155412"/>
                      </a:cubicBezTo>
                      <a:cubicBezTo>
                        <a:pt x="57796" y="164808"/>
                        <a:pt x="18081" y="143541"/>
                        <a:pt x="4366" y="105994"/>
                      </a:cubicBezTo>
                      <a:moveTo>
                        <a:pt x="0" y="149651"/>
                      </a:moveTo>
                      <a:lnTo>
                        <a:pt x="0" y="105994"/>
                      </a:lnTo>
                      <a:lnTo>
                        <a:pt x="43656" y="105994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8226742" y="175212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DETECT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890510" y="2013585"/>
                <a:ext cx="28000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Heartbeat from daemon thread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892415" y="2267902"/>
                <a:ext cx="29940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Engine writes status file every 200 ms.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892415" y="2458402"/>
                <a:ext cx="31473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NOT on step() — idle engines never call it.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92415" y="2648902"/>
                <a:ext cx="29710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Router polls 500 ms; &gt; 2 s stale ⇒ dead.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7905750" y="3000375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890510" y="3150394"/>
              <a:ext cx="3831717" cy="1140618"/>
              <a:chOff x="7890510" y="3150394"/>
              <a:chExt cx="3831717" cy="1140618"/>
            </a:xfrm>
          </p:grpSpPr>
          <p:grpSp>
            <p:nvGrpSpPr>
              <p:cNvPr id="60" name="Group 60"/>
              <p:cNvGrpSpPr/>
              <p:nvPr/>
            </p:nvGrpSpPr>
            <p:grpSpPr>
              <a:xfrm>
                <a:off x="7931944" y="3150394"/>
                <a:ext cx="157163" cy="165893"/>
                <a:chOff x="7931944" y="3150394"/>
                <a:chExt cx="157163" cy="16589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958138" y="3150394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52388"/>
                      </a:moveTo>
                      <a:cubicBezTo>
                        <a:pt x="0" y="81320"/>
                        <a:pt x="23455" y="104775"/>
                        <a:pt x="52388" y="104775"/>
                      </a:cubicBezTo>
                      <a:cubicBezTo>
                        <a:pt x="81320" y="104775"/>
                        <a:pt x="104775" y="81320"/>
                        <a:pt x="104775" y="52388"/>
                      </a:cubicBezTo>
                      <a:cubicBezTo>
                        <a:pt x="104775" y="23455"/>
                        <a:pt x="81320" y="0"/>
                        <a:pt x="52388" y="0"/>
                      </a:cubicBezTo>
                      <a:cubicBezTo>
                        <a:pt x="23455" y="0"/>
                        <a:pt x="0" y="23455"/>
                        <a:pt x="0" y="52388"/>
                      </a:cubicBez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010525" y="3150394"/>
                  <a:ext cx="17463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104775">
                      <a:moveTo>
                        <a:pt x="0" y="0"/>
                      </a:moveTo>
                      <a:cubicBezTo>
                        <a:pt x="11639" y="2908"/>
                        <a:pt x="17463" y="20370"/>
                        <a:pt x="17463" y="52388"/>
                      </a:cubicBezTo>
                      <a:cubicBezTo>
                        <a:pt x="17463" y="84405"/>
                        <a:pt x="11639" y="101867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993062" y="3150394"/>
                  <a:ext cx="17463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104775">
                      <a:moveTo>
                        <a:pt x="17463" y="0"/>
                      </a:moveTo>
                      <a:cubicBezTo>
                        <a:pt x="5824" y="2908"/>
                        <a:pt x="0" y="20370"/>
                        <a:pt x="0" y="52388"/>
                      </a:cubicBezTo>
                      <a:cubicBezTo>
                        <a:pt x="0" y="84405"/>
                        <a:pt x="5824" y="101867"/>
                        <a:pt x="17463" y="104775"/>
                      </a:cubicBez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958138" y="3202781"/>
                  <a:ext cx="1047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9525">
                      <a:moveTo>
                        <a:pt x="0" y="0"/>
                      </a:moveTo>
                      <a:lnTo>
                        <a:pt x="104775" y="0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931944" y="3298825"/>
                  <a:ext cx="6111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9525">
                      <a:moveTo>
                        <a:pt x="0" y="0"/>
                      </a:moveTo>
                      <a:lnTo>
                        <a:pt x="61119" y="0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027988" y="3298825"/>
                  <a:ext cx="6111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9525">
                      <a:moveTo>
                        <a:pt x="0" y="0"/>
                      </a:moveTo>
                      <a:lnTo>
                        <a:pt x="61119" y="0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993062" y="3281362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3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3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010525" y="3255169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8226742" y="3180874"/>
                <a:ext cx="6014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REROUTE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890510" y="3442335"/>
                <a:ext cx="238597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in_flight dict + vllm_xargs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892415" y="3696652"/>
                <a:ext cx="3507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Router tracks</a:t>
                </a:r>
                <a:r>
                  <a:rPr lang="zh-CN" sz="1050" dirty="0">
                    <a:solidFill>
                      <a:srgbClr val="4B5563"/>
                    </a:solidFill>
                    <a:latin typeface="Consolas"/>
                    <a:ea typeface="Microsoft YaHei"/>
                    <a:cs typeface="Consolas"/>
                  </a:rPr>
                  <a:t>router_req_id → (engine, body)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.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892415" y="3887152"/>
                <a:ext cx="29940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On death: enumerate, re-forward with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892415" y="4077652"/>
                <a:ext cx="382981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Consolas"/>
                    <a:ea typeface="Microsoft YaHei"/>
                    <a:cs typeface="Consolas"/>
                  </a:rPr>
                  <a:t>is_rerouted=True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+ original IDs to surviving engine.</a:t>
                </a:r>
              </a:p>
            </p:txBody>
          </p:sp>
        </p:grpSp>
        <p:sp>
          <p:nvSpPr>
            <p:cNvPr id="67" name="Line 67"/>
            <p:cNvSpPr/>
            <p:nvPr/>
          </p:nvSpPr>
          <p:spPr>
            <a:xfrm>
              <a:off x="7905750" y="4429125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890510" y="4584506"/>
              <a:ext cx="3586353" cy="1135256"/>
              <a:chOff x="7890510" y="4584506"/>
              <a:chExt cx="3586353" cy="1135256"/>
            </a:xfrm>
          </p:grpSpPr>
          <p:grpSp>
            <p:nvGrpSpPr>
              <p:cNvPr id="70" name="Group 70"/>
              <p:cNvGrpSpPr/>
              <p:nvPr/>
            </p:nvGrpSpPr>
            <p:grpSpPr>
              <a:xfrm>
                <a:off x="7940675" y="4584506"/>
                <a:ext cx="139700" cy="146438"/>
                <a:chOff x="7940675" y="4584506"/>
                <a:chExt cx="139700" cy="146438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7940675" y="4584506"/>
                  <a:ext cx="139700" cy="6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64488">
                      <a:moveTo>
                        <a:pt x="139700" y="64488"/>
                      </a:moveTo>
                      <a:cubicBezTo>
                        <a:pt x="135311" y="32903"/>
                        <a:pt x="110327" y="8162"/>
                        <a:pt x="78701" y="4081"/>
                      </a:cubicBezTo>
                      <a:cubicBezTo>
                        <a:pt x="47074" y="0"/>
                        <a:pt x="16629" y="17589"/>
                        <a:pt x="4366" y="47025"/>
                      </a:cubicBezTo>
                      <a:moveTo>
                        <a:pt x="0" y="12100"/>
                      </a:moveTo>
                      <a:lnTo>
                        <a:pt x="0" y="47025"/>
                      </a:lnTo>
                      <a:lnTo>
                        <a:pt x="34925" y="47025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940675" y="4666456"/>
                  <a:ext cx="139700" cy="6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64488">
                      <a:moveTo>
                        <a:pt x="0" y="0"/>
                      </a:moveTo>
                      <a:cubicBezTo>
                        <a:pt x="4389" y="31585"/>
                        <a:pt x="29373" y="56326"/>
                        <a:pt x="60999" y="60407"/>
                      </a:cubicBezTo>
                      <a:cubicBezTo>
                        <a:pt x="92626" y="64488"/>
                        <a:pt x="123071" y="46899"/>
                        <a:pt x="135334" y="17462"/>
                      </a:cubicBezTo>
                      <a:moveTo>
                        <a:pt x="139700" y="52388"/>
                      </a:moveTo>
                      <a:lnTo>
                        <a:pt x="139700" y="17462"/>
                      </a:lnTo>
                      <a:lnTo>
                        <a:pt x="104775" y="17462"/>
                      </a:lnTo>
                    </a:path>
                  </a:pathLst>
                </a:custGeom>
                <a:noFill/>
                <a:ln w="19050">
                  <a:solidFill>
                    <a:srgbClr val="111827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8226742" y="4609624"/>
                <a:ext cx="6014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RESTORE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890510" y="4871085"/>
                <a:ext cx="19075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Reload state machine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892415" y="5125402"/>
                <a:ext cx="26106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alloc KV blocks → restore from shm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892415" y="5315902"/>
                <a:ext cx="28100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→ flip to</a:t>
                </a:r>
                <a:r>
                  <a:rPr lang="zh-CN" sz="1050" dirty="0">
                    <a:solidFill>
                      <a:srgbClr val="4B5563"/>
                    </a:solidFill>
                    <a:latin typeface="Consolas"/>
                    <a:ea typeface="Microsoft YaHei"/>
                    <a:cs typeface="Consolas"/>
                  </a:rPr>
                  <a:t>PREEMPTED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; vLLM's standard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892415" y="5506402"/>
                <a:ext cx="35844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resumed-from-preempt admit path takes over.</a:t>
                </a: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571500" y="5905500"/>
            <a:ext cx="11049000" cy="461962"/>
            <a:chOff x="571500" y="5905500"/>
            <a:chExt cx="11049000" cy="461962"/>
          </a:xfrm>
        </p:grpSpPr>
        <p:sp>
          <p:nvSpPr>
            <p:cNvPr id="78" name="Line 78"/>
            <p:cNvSpPr/>
            <p:nvPr/>
          </p:nvSpPr>
          <p:spPr>
            <a:xfrm>
              <a:off x="571500" y="5905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25022" y="6093142"/>
              <a:ext cx="9941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No admit-loop modification on the new engine — we reuse vLLM's existing resumed-from-preempt path.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61022" y="6578441"/>
            <a:ext cx="11069956" cy="167640"/>
            <a:chOff x="561022" y="6578441"/>
            <a:chExt cx="11069956" cy="167640"/>
          </a:xfrm>
        </p:grpSpPr>
        <p:sp>
          <p:nvSpPr>
            <p:cNvPr id="81" name="TextBox 81"/>
            <p:cNvSpPr txBox="1"/>
            <p:nvPr/>
          </p:nvSpPr>
          <p:spPr>
            <a:xfrm>
              <a:off x="561022" y="657844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36500" y="657844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77" grpId="0"/>
      <p:bldP spid="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077575" cy="881063"/>
            <a:chOff x="542925" y="519112"/>
            <a:chExt cx="11077575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476698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Evaluation setup at a glance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42542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3 seeds per configuration · mean ± std reported.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9118" y="1619250"/>
            <a:ext cx="11061382" cy="4519612"/>
            <a:chOff x="559118" y="1619250"/>
            <a:chExt cx="11061382" cy="4519612"/>
          </a:xfrm>
        </p:grpSpPr>
        <p:sp>
          <p:nvSpPr>
            <p:cNvPr id="7" name="Line 7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559118" y="1834039"/>
              <a:ext cx="11061382" cy="604361"/>
              <a:chOff x="559118" y="1834039"/>
              <a:chExt cx="11061382" cy="60436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59118" y="1866424"/>
                <a:ext cx="679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HARDWARE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650808" y="1834039"/>
                <a:ext cx="194852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2 × NVIDIA A6000 PCIe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653665" y="2096452"/>
                <a:ext cx="52483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48 GB each · portability check on 2 × L40S (same model, different SM)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571500" y="242887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559118" y="2624614"/>
              <a:ext cx="11061382" cy="604361"/>
              <a:chOff x="559118" y="2624614"/>
              <a:chExt cx="11061382" cy="60436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59118" y="2656999"/>
                <a:ext cx="4733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MODEL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50808" y="2624614"/>
                <a:ext cx="271107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Qwen2.5-7B-Instruct · fp16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53665" y="2887028"/>
                <a:ext cx="63831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Consolas"/>
                    <a:ea typeface="Microsoft YaHei"/>
                    <a:cs typeface="Consolas"/>
                  </a:rPr>
                  <a:t>max_model_len 32K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· 32K extension via Qwen2.5-7B-Instruct-1M noted as future work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571500" y="32194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59118" y="3415189"/>
              <a:ext cx="11061382" cy="794861"/>
              <a:chOff x="559118" y="3415189"/>
              <a:chExt cx="11061382" cy="79486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59118" y="3447574"/>
                <a:ext cx="8150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WORKLOADS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650808" y="3415189"/>
                <a:ext cx="198762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RULER 16K + ShareGPT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53665" y="3677602"/>
                <a:ext cx="72955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RULER 16K — long-context regime we target · ShareGPT — short-context regime we must not break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53665" y="3868102"/>
                <a:ext cx="64061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Poisson arrivals · Niyama-style 3-tier QoS (tight / normal / loose) in the main figure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571500" y="4200525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59118" y="4396264"/>
              <a:ext cx="11061382" cy="794861"/>
              <a:chOff x="559118" y="4396264"/>
              <a:chExt cx="11061382" cy="794861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59118" y="4428649"/>
                <a:ext cx="11497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SLO CALIBRATION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650808" y="4396264"/>
                <a:ext cx="275995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baseline P95 × {1.5×, 3×, 6×}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653665" y="4658678"/>
                <a:ext cx="70502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Baseline P95 measured on</a:t>
                </a:r>
                <a:r>
                  <a:rPr lang="zh-CN" sz="1050" dirty="0">
                    <a:solidFill>
                      <a:srgbClr val="4B5563"/>
                    </a:solidFill>
                    <a:latin typeface="Consolas"/>
                    <a:ea typeface="Microsoft YaHei"/>
                    <a:cs typeface="Consolas"/>
                  </a:rPr>
                  <a:t>vllm_fcfs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at uncontested low QPS (0.02 for RULER, 0.1 for ShareGPT)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653665" y="4849178"/>
                <a:ext cx="53633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Per-class SLO tiers: tight / normal / loose = 1.5× / 3× / 6× baseline P95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571500" y="51816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4762">
                <a:solidFill>
                  <a:srgbClr val="D1D5DB"/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559118" y="5377339"/>
              <a:ext cx="10759821" cy="761523"/>
              <a:chOff x="559118" y="5377339"/>
              <a:chExt cx="10759821" cy="761523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559118" y="5409724"/>
                <a:ext cx="6940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BASELINES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650808" y="5377339"/>
                <a:ext cx="173344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4-way comparison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2653665" y="5677852"/>
                <a:ext cx="3120533" cy="213360"/>
                <a:chOff x="2653665" y="5677852"/>
                <a:chExt cx="3120533" cy="213360"/>
              </a:xfrm>
            </p:grpSpPr>
            <p:sp>
              <p:nvSpPr>
                <p:cNvPr id="32" name="TextBox 32"/>
                <p:cNvSpPr txBox="1"/>
                <p:nvPr/>
              </p:nvSpPr>
              <p:spPr>
                <a:xfrm>
                  <a:off x="2653665" y="5677852"/>
                  <a:ext cx="73975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111827"/>
                      </a:solidFill>
                      <a:latin typeface="Consolas"/>
                      <a:ea typeface="Microsoft YaHei"/>
                      <a:cs typeface="Consolas"/>
                    </a:rPr>
                    <a:t>vllm_fcfs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4083368" y="5685949"/>
                  <a:ext cx="169083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B5563"/>
                      </a:solidFill>
                      <a:latin typeface="Arial"/>
                      <a:ea typeface="Microsoft YaHei"/>
                      <a:cs typeface="Arial"/>
                    </a:rPr>
                    <a:t>no router, no FT — floor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6654165" y="5677852"/>
                <a:ext cx="4664774" cy="213360"/>
                <a:chOff x="6654165" y="5677852"/>
                <a:chExt cx="4664774" cy="213360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6654165" y="5677852"/>
                  <a:ext cx="129182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111827"/>
                      </a:solidFill>
                      <a:latin typeface="Consolas"/>
                      <a:ea typeface="Microsoft YaHei"/>
                      <a:cs typeface="Consolas"/>
                    </a:rPr>
                    <a:t>reroute_no_ckpt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560118" y="5685949"/>
                  <a:ext cx="275882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B5563"/>
                      </a:solidFill>
                      <a:latin typeface="Arial"/>
                      <a:ea typeface="Microsoft YaHei"/>
                      <a:cs typeface="Arial"/>
                    </a:rPr>
                    <a:t>router on, no FT — isolates router cost</a:t>
                  </a:r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2653665" y="5925502"/>
                <a:ext cx="3761328" cy="213360"/>
                <a:chOff x="2653665" y="5925502"/>
                <a:chExt cx="3761328" cy="213360"/>
              </a:xfrm>
            </p:grpSpPr>
            <p:sp>
              <p:nvSpPr>
                <p:cNvPr id="38" name="TextBox 38"/>
                <p:cNvSpPr txBox="1"/>
                <p:nvPr/>
              </p:nvSpPr>
              <p:spPr>
                <a:xfrm>
                  <a:off x="2653665" y="5925502"/>
                  <a:ext cx="116914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111827"/>
                      </a:solidFill>
                      <a:latin typeface="Consolas"/>
                      <a:ea typeface="Microsoft YaHei"/>
                      <a:cs typeface="Consolas"/>
                    </a:rPr>
                    <a:t>ours_no_picker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083368" y="5933599"/>
                  <a:ext cx="233162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B5563"/>
                      </a:solidFill>
                      <a:latin typeface="Arial"/>
                      <a:ea typeface="Microsoft YaHei"/>
                      <a:cs typeface="Arial"/>
                    </a:rPr>
                    <a:t>FT on, slack picker off — ablation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6654165" y="5925502"/>
                <a:ext cx="2713911" cy="213360"/>
                <a:chOff x="6654165" y="5925502"/>
                <a:chExt cx="2713911" cy="213360"/>
              </a:xfrm>
            </p:grpSpPr>
            <p:sp>
              <p:nvSpPr>
                <p:cNvPr id="41" name="TextBox 41"/>
                <p:cNvSpPr txBox="1"/>
                <p:nvPr/>
              </p:nvSpPr>
              <p:spPr>
                <a:xfrm>
                  <a:off x="6654165" y="5925502"/>
                  <a:ext cx="380914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11827"/>
                      </a:solidFill>
                      <a:latin typeface="Consolas"/>
                      <a:ea typeface="Microsoft YaHei"/>
                      <a:cs typeface="Consolas"/>
                    </a:rPr>
                    <a:t>ours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560118" y="5933599"/>
                  <a:ext cx="80795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11827"/>
                      </a:solidFill>
                      <a:latin typeface="Arial"/>
                      <a:ea typeface="Microsoft YaHei"/>
                      <a:cs typeface="Arial"/>
                    </a:rPr>
                    <a:t>full system</a:t>
                  </a:r>
                </a:p>
              </p:txBody>
            </p:sp>
          </p:grpSp>
        </p:grpSp>
      </p:grpSp>
      <p:grpSp>
        <p:nvGrpSpPr>
          <p:cNvPr id="48" name="Group 48"/>
          <p:cNvGrpSpPr/>
          <p:nvPr/>
        </p:nvGrpSpPr>
        <p:grpSpPr>
          <a:xfrm>
            <a:off x="561022" y="6578441"/>
            <a:ext cx="11069955" cy="167640"/>
            <a:chOff x="561022" y="6578441"/>
            <a:chExt cx="11069955" cy="167640"/>
          </a:xfrm>
        </p:grpSpPr>
        <p:sp>
          <p:nvSpPr>
            <p:cNvPr id="46" name="TextBox 46"/>
            <p:cNvSpPr txBox="1"/>
            <p:nvPr/>
          </p:nvSpPr>
          <p:spPr>
            <a:xfrm>
              <a:off x="561022" y="657844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66622" y="657844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519112"/>
            <a:ext cx="11077575" cy="881063"/>
            <a:chOff x="542925" y="519112"/>
            <a:chExt cx="11077575" cy="881063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519112"/>
              <a:ext cx="837268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Three experiments aligned to three contributions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00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6260" y="1156335"/>
              <a:ext cx="52006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Figure placeholders — real plots inserted as results come in.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8665" y="1609249"/>
            <a:ext cx="4756785" cy="4715351"/>
            <a:chOff x="748665" y="1609249"/>
            <a:chExt cx="4756785" cy="4715351"/>
          </a:xfrm>
        </p:grpSpPr>
        <p:sp>
          <p:nvSpPr>
            <p:cNvPr id="7" name="TextBox 7"/>
            <p:cNvSpPr txBox="1"/>
            <p:nvPr/>
          </p:nvSpPr>
          <p:spPr>
            <a:xfrm>
              <a:off x="749618" y="160924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E_M1 · MAIN FIGURE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905000"/>
              <a:ext cx="3524250" cy="22860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9CA3AF"/>
              </a:solidFill>
              <a:custDash>
                <a:ds d="500000" sp="333333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09550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" y="3905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522" y="2006441"/>
              <a:ext cx="7499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SLO attain 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4696" y="4006691"/>
              <a:ext cx="3462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QPS →</a:t>
              </a:r>
            </a:p>
          </p:txBody>
        </p:sp>
        <p:sp>
          <p:nvSpPr>
            <p:cNvPr id="13" name="Polyline 13"/>
            <p:cNvSpPr/>
            <p:nvPr/>
          </p:nvSpPr>
          <p:spPr>
            <a:xfrm>
              <a:off x="1190625" y="2238375"/>
              <a:ext cx="2571750" cy="1143000"/>
            </a:xfrm>
            <a:custGeom>
              <a:avLst/>
              <a:gdLst/>
              <a:ahLst/>
              <a:cxnLst/>
              <a:rect l="l" t="t" r="r" b="b"/>
              <a:pathLst>
                <a:path w="2571750" h="1143000">
                  <a:moveTo>
                    <a:pt x="0" y="0"/>
                  </a:moveTo>
                  <a:lnTo>
                    <a:pt x="476250" y="28575"/>
                  </a:lnTo>
                  <a:lnTo>
                    <a:pt x="1000125" y="95250"/>
                  </a:lnTo>
                  <a:lnTo>
                    <a:pt x="1524000" y="238125"/>
                  </a:lnTo>
                  <a:lnTo>
                    <a:pt x="2047875" y="571500"/>
                  </a:lnTo>
                  <a:lnTo>
                    <a:pt x="2571750" y="1143000"/>
                  </a:lnTo>
                </a:path>
              </a:pathLst>
            </a:custGeom>
            <a:noFill/>
            <a:ln w="19050">
              <a:solidFill>
                <a:srgbClr val="111827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1190625" y="2266950"/>
              <a:ext cx="2571750" cy="1524000"/>
            </a:xfrm>
            <a:custGeom>
              <a:avLst/>
              <a:gdLst/>
              <a:ahLst/>
              <a:cxnLst/>
              <a:rect l="l" t="t" r="r" b="b"/>
              <a:pathLst>
                <a:path w="2571750" h="1524000">
                  <a:moveTo>
                    <a:pt x="0" y="0"/>
                  </a:moveTo>
                  <a:lnTo>
                    <a:pt x="476250" y="114300"/>
                  </a:lnTo>
                  <a:lnTo>
                    <a:pt x="1000125" y="352425"/>
                  </a:lnTo>
                  <a:lnTo>
                    <a:pt x="1524000" y="781050"/>
                  </a:lnTo>
                  <a:lnTo>
                    <a:pt x="2047875" y="1276350"/>
                  </a:lnTo>
                  <a:lnTo>
                    <a:pt x="2571750" y="1524000"/>
                  </a:lnTo>
                </a:path>
              </a:pathLst>
            </a:custGeom>
            <a:noFill/>
            <a:ln w="14288">
              <a:solidFill>
                <a:srgbClr val="4B5563"/>
              </a:solidFill>
              <a:custDash>
                <a:ds d="333333" sp="200000"/>
              </a:custDash>
            </a:ln>
          </p:spPr>
        </p:sp>
        <p:sp>
          <p:nvSpPr>
            <p:cNvPr id="15" name="Polyline 15"/>
            <p:cNvSpPr/>
            <p:nvPr/>
          </p:nvSpPr>
          <p:spPr>
            <a:xfrm>
              <a:off x="1190625" y="2305050"/>
              <a:ext cx="2571750" cy="1581150"/>
            </a:xfrm>
            <a:custGeom>
              <a:avLst/>
              <a:gdLst/>
              <a:ahLst/>
              <a:cxnLst/>
              <a:rect l="l" t="t" r="r" b="b"/>
              <a:pathLst>
                <a:path w="2571750" h="1581150">
                  <a:moveTo>
                    <a:pt x="0" y="0"/>
                  </a:moveTo>
                  <a:lnTo>
                    <a:pt x="476250" y="219075"/>
                  </a:lnTo>
                  <a:lnTo>
                    <a:pt x="1000125" y="647700"/>
                  </a:lnTo>
                  <a:lnTo>
                    <a:pt x="1524000" y="1104900"/>
                  </a:lnTo>
                  <a:lnTo>
                    <a:pt x="2047875" y="1428750"/>
                  </a:lnTo>
                  <a:lnTo>
                    <a:pt x="2571750" y="1581150"/>
                  </a:lnTo>
                </a:path>
              </a:pathLst>
            </a:custGeom>
            <a:noFill/>
            <a:ln w="14288">
              <a:solidFill>
                <a:srgbClr val="9CA3AF"/>
              </a:solidFill>
              <a:custDash>
                <a:ds d="133333" sp="200000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47148" y="2168366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ours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47148" y="2701766"/>
              <a:ext cx="4848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no_ckpt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47148" y="29779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fcfs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9672" y="4276249"/>
              <a:ext cx="2288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i="1" dirty="0">
                  <a:solidFill>
                    <a:srgbClr val="4B5563"/>
                  </a:solidFill>
                  <a:latin typeface="Georgia"/>
                  <a:ea typeface="SimSun"/>
                  <a:cs typeface="Georgia"/>
                </a:rPr>
                <a:t>Figure 2. SLO attainment vs QPS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4649152"/>
              <a:ext cx="421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Claim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4887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ours</a:t>
              </a:r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holds attainment past the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5077778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saturation knee where baselines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5268278"/>
              <a:ext cx="1207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drop below 90%.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618" y="5609749"/>
              <a:ext cx="2466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Long-context gap clearest because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5800249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each preempt saves seconds of prefill.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0570" y="6141720"/>
              <a:ext cx="4754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Status: 1.0–8.0 QPS sweep, 3 seeds on A6000 · L40S replicate in progress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749165" y="1609249"/>
            <a:ext cx="3685747" cy="4715351"/>
            <a:chOff x="4749165" y="1609249"/>
            <a:chExt cx="3685747" cy="4715351"/>
          </a:xfrm>
        </p:grpSpPr>
        <p:sp>
          <p:nvSpPr>
            <p:cNvPr id="28" name="TextBox 28"/>
            <p:cNvSpPr txBox="1"/>
            <p:nvPr/>
          </p:nvSpPr>
          <p:spPr>
            <a:xfrm>
              <a:off x="4750118" y="1609249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E_M4 · PICKER ABLATION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762500" y="1905000"/>
              <a:ext cx="3524250" cy="22860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9CA3AF"/>
              </a:solidFill>
              <a:custDash>
                <a:ds d="500000" sp="333333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5143500" y="209550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5143500" y="3905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52022" y="2006441"/>
              <a:ext cx="7499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SLO attain 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65196" y="4006691"/>
              <a:ext cx="3462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QPS →</a:t>
              </a:r>
            </a:p>
          </p:txBody>
        </p:sp>
        <p:sp>
          <p:nvSpPr>
            <p:cNvPr id="34" name="Polyline 34"/>
            <p:cNvSpPr/>
            <p:nvPr/>
          </p:nvSpPr>
          <p:spPr>
            <a:xfrm>
              <a:off x="5191125" y="2238375"/>
              <a:ext cx="2571750" cy="1143000"/>
            </a:xfrm>
            <a:custGeom>
              <a:avLst/>
              <a:gdLst/>
              <a:ahLst/>
              <a:cxnLst/>
              <a:rect l="l" t="t" r="r" b="b"/>
              <a:pathLst>
                <a:path w="2571750" h="1143000">
                  <a:moveTo>
                    <a:pt x="0" y="0"/>
                  </a:moveTo>
                  <a:lnTo>
                    <a:pt x="476250" y="28575"/>
                  </a:lnTo>
                  <a:lnTo>
                    <a:pt x="1000125" y="95250"/>
                  </a:lnTo>
                  <a:lnTo>
                    <a:pt x="1524000" y="238125"/>
                  </a:lnTo>
                  <a:lnTo>
                    <a:pt x="2047875" y="571500"/>
                  </a:lnTo>
                  <a:lnTo>
                    <a:pt x="2571750" y="1143000"/>
                  </a:lnTo>
                </a:path>
              </a:pathLst>
            </a:custGeom>
            <a:noFill/>
            <a:ln w="19050">
              <a:solidFill>
                <a:srgbClr val="111827"/>
              </a:solidFill>
            </a:ln>
          </p:spPr>
        </p:sp>
        <p:sp>
          <p:nvSpPr>
            <p:cNvPr id="35" name="Polyline 35"/>
            <p:cNvSpPr/>
            <p:nvPr/>
          </p:nvSpPr>
          <p:spPr>
            <a:xfrm>
              <a:off x="5191125" y="2266950"/>
              <a:ext cx="2571750" cy="1333500"/>
            </a:xfrm>
            <a:custGeom>
              <a:avLst/>
              <a:gdLst/>
              <a:ahLst/>
              <a:cxnLst/>
              <a:rect l="l" t="t" r="r" b="b"/>
              <a:pathLst>
                <a:path w="2571750" h="1333500">
                  <a:moveTo>
                    <a:pt x="0" y="0"/>
                  </a:moveTo>
                  <a:lnTo>
                    <a:pt x="476250" y="66675"/>
                  </a:lnTo>
                  <a:lnTo>
                    <a:pt x="1000125" y="209550"/>
                  </a:lnTo>
                  <a:lnTo>
                    <a:pt x="1524000" y="495300"/>
                  </a:lnTo>
                  <a:lnTo>
                    <a:pt x="2047875" y="923925"/>
                  </a:lnTo>
                  <a:lnTo>
                    <a:pt x="2571750" y="133350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6" name="Polyline 36"/>
            <p:cNvSpPr/>
            <p:nvPr/>
          </p:nvSpPr>
          <p:spPr>
            <a:xfrm>
              <a:off x="5191125" y="2286000"/>
              <a:ext cx="2571750" cy="1504950"/>
            </a:xfrm>
            <a:custGeom>
              <a:avLst/>
              <a:gdLst/>
              <a:ahLst/>
              <a:cxnLst/>
              <a:rect l="l" t="t" r="r" b="b"/>
              <a:pathLst>
                <a:path w="2571750" h="1504950">
                  <a:moveTo>
                    <a:pt x="0" y="0"/>
                  </a:moveTo>
                  <a:lnTo>
                    <a:pt x="476250" y="123825"/>
                  </a:lnTo>
                  <a:lnTo>
                    <a:pt x="1000125" y="361950"/>
                  </a:lnTo>
                  <a:lnTo>
                    <a:pt x="1524000" y="781050"/>
                  </a:lnTo>
                  <a:lnTo>
                    <a:pt x="2047875" y="1257300"/>
                  </a:lnTo>
                  <a:lnTo>
                    <a:pt x="2571750" y="1504950"/>
                  </a:lnTo>
                </a:path>
              </a:pathLst>
            </a:custGeom>
            <a:noFill/>
            <a:ln w="14288">
              <a:solidFill>
                <a:srgbClr val="4B5563"/>
              </a:solidFill>
              <a:custDash>
                <a:ds d="333333" sp="2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47648" y="2168366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ours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47648" y="2816066"/>
              <a:ext cx="5872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no_picker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47648" y="3178016"/>
              <a:ext cx="4848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no_ckpt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91494" y="4276249"/>
              <a:ext cx="2666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i="1" dirty="0">
                  <a:solidFill>
                    <a:srgbClr val="4B5563"/>
                  </a:solidFill>
                  <a:latin typeface="Georgia"/>
                  <a:ea typeface="SimSun"/>
                  <a:cs typeface="Georgia"/>
                </a:rPr>
                <a:t>Figure 4. Mechanism vs policy ablation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49165" y="4649152"/>
              <a:ext cx="421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Claim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49165" y="4887278"/>
              <a:ext cx="21352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ours_no_picker</a:t>
              </a:r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sits between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5077778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ours</a:t>
              </a:r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and</a:t>
              </a:r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reroute_no_ckpt</a:t>
              </a:r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50118" y="5419249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Mechanism alone = passive benefit.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50118" y="5609749"/>
              <a:ext cx="21892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Picker = active SLO advantage.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50118" y="5800249"/>
              <a:ext cx="29439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Two contributions independent + additive.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51070" y="6141720"/>
              <a:ext cx="31052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Status:</a:t>
              </a:r>
              <a:r>
                <a:rPr lang="zh-CN" sz="900" dirty="0">
                  <a:solidFill>
                    <a:srgbClr val="9CA3AF"/>
                  </a:solidFill>
                  <a:latin typeface="Consolas"/>
                  <a:ea typeface="Microsoft YaHei"/>
                  <a:cs typeface="Consolas"/>
                </a:rPr>
                <a:t>ours_no_picker</a:t>
              </a:r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runs scheduled this week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749665" y="1609249"/>
            <a:ext cx="3810381" cy="4715351"/>
            <a:chOff x="8749665" y="1609249"/>
            <a:chExt cx="3810381" cy="4715351"/>
          </a:xfrm>
        </p:grpSpPr>
        <p:sp>
          <p:nvSpPr>
            <p:cNvPr id="49" name="TextBox 49"/>
            <p:cNvSpPr txBox="1"/>
            <p:nvPr/>
          </p:nvSpPr>
          <p:spPr>
            <a:xfrm>
              <a:off x="8750618" y="16092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E_D1 · FAILOVER GAP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763000" y="1905000"/>
              <a:ext cx="2857500" cy="22860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9CA3AF"/>
              </a:solidFill>
              <a:custDash>
                <a:ds d="500000" sp="333333"/>
              </a:custDash>
            </a:ln>
          </p:spPr>
        </p:sp>
        <p:sp>
          <p:nvSpPr>
            <p:cNvPr id="51" name="Line 51"/>
            <p:cNvSpPr/>
            <p:nvPr/>
          </p:nvSpPr>
          <p:spPr>
            <a:xfrm>
              <a:off x="9144000" y="209550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9144000" y="3905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52522" y="2006441"/>
              <a:ext cx="9607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failover gap (s)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54318" y="4006691"/>
              <a:ext cx="990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context length →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382125" y="3762375"/>
              <a:ext cx="209550" cy="142875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667875" y="3667125"/>
              <a:ext cx="209550" cy="238125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953625" y="3524250"/>
              <a:ext cx="209550" cy="3810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39375" y="3381375"/>
              <a:ext cx="209550" cy="523875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572750" y="3619500"/>
              <a:ext cx="209550" cy="28575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858500" y="3143250"/>
              <a:ext cx="209550" cy="7620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1144250" y="2333625"/>
              <a:ext cx="209550" cy="157162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953482" y="3197066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ours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01827" y="2101691"/>
              <a:ext cx="4848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no_ckpt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90338" y="4276249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i="1" dirty="0">
                  <a:solidFill>
                    <a:srgbClr val="4B5563"/>
                  </a:solidFill>
                  <a:latin typeface="Georgia"/>
                  <a:ea typeface="SimSun"/>
                  <a:cs typeface="Georgia"/>
                </a:rPr>
                <a:t>Figure 5. SIGKILL → next-token gap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49665" y="4649152"/>
              <a:ext cx="421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Claim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49665" y="48872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ours</a:t>
              </a:r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≈ 1.5 s on RULER 16K.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49665" y="5077778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no_ckpt</a:t>
              </a:r>
              <a:r>
                <a:rPr lang="zh-CN" sz="10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≈ 10–20 s at 16K.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50618" y="54192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Gap grows with context length 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50618" y="5609749"/>
              <a:ext cx="26306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tens of seconds extrapolated at 64K.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0618" y="5800249"/>
              <a:ext cx="2666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Lower variance too (single V3 batch).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51570" y="6141720"/>
              <a:ext cx="38084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Status: RULER 16K demo working · scaling to longer context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61022" y="6578441"/>
            <a:ext cx="11069955" cy="167640"/>
            <a:chOff x="561022" y="6578441"/>
            <a:chExt cx="11069955" cy="167640"/>
          </a:xfrm>
        </p:grpSpPr>
        <p:sp>
          <p:nvSpPr>
            <p:cNvPr id="73" name="TextBox 73"/>
            <p:cNvSpPr txBox="1"/>
            <p:nvPr/>
          </p:nvSpPr>
          <p:spPr>
            <a:xfrm>
              <a:off x="561022" y="6578441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296745" y="6578441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8" grpId="0"/>
      <p:bldP spid="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76923" y="1029652"/>
            <a:ext cx="1238155" cy="313373"/>
            <a:chOff x="5476923" y="1029652"/>
            <a:chExt cx="1238155" cy="313373"/>
          </a:xfrm>
        </p:grpSpPr>
        <p:sp>
          <p:nvSpPr>
            <p:cNvPr id="3" name="TextBox 3"/>
            <p:cNvSpPr txBox="1"/>
            <p:nvPr/>
          </p:nvSpPr>
          <p:spPr>
            <a:xfrm>
              <a:off x="5476923" y="1029652"/>
              <a:ext cx="12381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SUBMISSION PLAN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572125" y="13335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099594" y="1774031"/>
            <a:ext cx="5472906" cy="2021681"/>
            <a:chOff x="3099594" y="1774031"/>
            <a:chExt cx="5472906" cy="2021681"/>
          </a:xfrm>
        </p:grpSpPr>
        <p:grpSp>
          <p:nvGrpSpPr>
            <p:cNvPr id="8" name="Group 8"/>
            <p:cNvGrpSpPr/>
            <p:nvPr/>
          </p:nvGrpSpPr>
          <p:grpSpPr>
            <a:xfrm>
              <a:off x="3099594" y="1774031"/>
              <a:ext cx="165100" cy="196056"/>
              <a:chOff x="3099594" y="1774031"/>
              <a:chExt cx="165100" cy="19605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3192462" y="1774031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3099594" y="1774031"/>
                <a:ext cx="165100" cy="196056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96056">
                    <a:moveTo>
                      <a:pt x="67072" y="185738"/>
                    </a:moveTo>
                    <a:lnTo>
                      <a:pt x="20637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9" y="0"/>
                    </a:lnTo>
                    <a:lnTo>
                      <a:pt x="144462" y="51594"/>
                    </a:lnTo>
                    <a:lnTo>
                      <a:pt x="144462" y="103188"/>
                    </a:lnTo>
                    <a:moveTo>
                      <a:pt x="92869" y="165100"/>
                    </a:moveTo>
                    <a:lnTo>
                      <a:pt x="165100" y="165100"/>
                    </a:lnTo>
                    <a:moveTo>
                      <a:pt x="134144" y="134144"/>
                    </a:moveTo>
                    <a:lnTo>
                      <a:pt x="165100" y="165100"/>
                    </a:lnTo>
                    <a:lnTo>
                      <a:pt x="134144" y="196056"/>
                    </a:lnTo>
                  </a:path>
                </a:pathLst>
              </a:custGeom>
              <a:noFill/>
              <a:ln w="19050">
                <a:solidFill>
                  <a:srgbClr val="111827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3511868" y="1847374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TARGET VENUE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91865" y="2010728"/>
              <a:ext cx="40339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APSys 2026 Workshop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09010" y="2423160"/>
              <a:ext cx="27820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6–8 pages · short-paper format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524250" y="2809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1D5D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11868" y="30189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DEADLINE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88055" y="3216592"/>
              <a:ext cx="435552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Georgia"/>
                  <a:ea typeface="SimSun"/>
                  <a:cs typeface="Georgia"/>
                </a:rPr>
                <a:t>May 20 (Wednesday)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09712" y="3990499"/>
            <a:ext cx="9158288" cy="1448276"/>
            <a:chOff x="1509712" y="3990499"/>
            <a:chExt cx="9158288" cy="1448276"/>
          </a:xfrm>
        </p:grpSpPr>
        <p:sp>
          <p:nvSpPr>
            <p:cNvPr id="16" name="TextBox 16"/>
            <p:cNvSpPr txBox="1"/>
            <p:nvPr/>
          </p:nvSpPr>
          <p:spPr>
            <a:xfrm>
              <a:off x="1511618" y="399049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STATUS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524000" y="41910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09712" y="4394835"/>
              <a:ext cx="6651308" cy="243840"/>
              <a:chOff x="1509712" y="4394835"/>
              <a:chExt cx="6651308" cy="24384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509712" y="4402931"/>
                <a:ext cx="4167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[ ✓ ]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127885" y="4394835"/>
                <a:ext cx="60331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Paper framework &amp; section outline drafted (5 sections, APSys-shape)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509712" y="4661535"/>
              <a:ext cx="6370892" cy="243840"/>
              <a:chOff x="1509712" y="4661535"/>
              <a:chExt cx="6370892" cy="24384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509712" y="4669631"/>
                <a:ext cx="4167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[ ◐ ]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127885" y="4661535"/>
                <a:ext cx="57527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E_M1 main figure — partial: 1.0–8.0 QPS sweep × 3 seeds on A6000 in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509712" y="4928235"/>
              <a:ext cx="6712649" cy="243840"/>
              <a:chOff x="1509712" y="4928235"/>
              <a:chExt cx="6712649" cy="24384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1509712" y="4936331"/>
                <a:ext cx="4167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[ ◐ ]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127885" y="4928235"/>
                <a:ext cx="60944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E_M4 picker ablation — partial:</a:t>
                </a:r>
                <a:r>
                  <a:rPr lang="zh-CN" sz="1200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ours_no_picker</a:t>
                </a:r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runs scheduled this week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509712" y="5194935"/>
              <a:ext cx="6440996" cy="243840"/>
              <a:chOff x="1509712" y="5194935"/>
              <a:chExt cx="6440996" cy="24384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509712" y="5203031"/>
                <a:ext cx="4167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[ ◐ ]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127885" y="5194935"/>
                <a:ext cx="58228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E_D1 failover demo — working on RULER 16K, scaling to longer context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1509712" y="5704999"/>
            <a:ext cx="9158288" cy="812482"/>
            <a:chOff x="1509712" y="5704999"/>
            <a:chExt cx="9158288" cy="812482"/>
          </a:xfrm>
        </p:grpSpPr>
        <p:sp>
          <p:nvSpPr>
            <p:cNvPr id="31" name="TextBox 31"/>
            <p:cNvSpPr txBox="1"/>
            <p:nvPr/>
          </p:nvSpPr>
          <p:spPr>
            <a:xfrm>
              <a:off x="1511618" y="5704999"/>
              <a:ext cx="22248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OPEN QUESTIONS FOR DISCUSSION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524000" y="5905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11182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09712" y="6069806"/>
              <a:ext cx="4440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· Tiered QoS vs uniform — which as the headline figure?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09712" y="6288881"/>
              <a:ext cx="4152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· δ / cooldown small sweep — fold into E_M2 budget?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1022" y="6626066"/>
            <a:ext cx="11069955" cy="167640"/>
            <a:chOff x="561022" y="6626066"/>
            <a:chExt cx="11069955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61022" y="6626066"/>
              <a:ext cx="30814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Disruption-Aware SLO Scheduling — APSys 2026 draft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66622" y="6626066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30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