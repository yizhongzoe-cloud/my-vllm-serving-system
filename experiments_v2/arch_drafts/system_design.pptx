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9"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C9E8"/>
    <a:srgbClr val="CBE4B9"/>
    <a:srgbClr val="8FB6DA"/>
    <a:srgbClr val="F5E2CF"/>
    <a:srgbClr val="D8EA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F02BA1-0133-A44B-92D0-DA3C3914D81A}" v="158" dt="2026-05-18T01:47:22.16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97"/>
    <p:restoredTop sz="94610"/>
  </p:normalViewPr>
  <p:slideViewPr>
    <p:cSldViewPr snapToGrid="0" snapToObjects="1">
      <p:cViewPr varScale="1">
        <p:scale>
          <a:sx n="124" d="100"/>
          <a:sy n="124" d="100"/>
        </p:scale>
        <p:origin x="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1180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DB4C4-8FCE-77F1-2B97-8E49FBBCE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11F62-A427-683B-C571-8D312FCD6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38A66-8230-9E23-2BF1-F342D5656D9C}"/>
              </a:ext>
            </a:extLst>
          </p:cNvPr>
          <p:cNvSpPr>
            <a:spLocks noGrp="1"/>
          </p:cNvSpPr>
          <p:nvPr>
            <p:ph type="body" idx="1"/>
          </p:nvPr>
        </p:nvSpPr>
        <p:spPr/>
        <p:txBody>
          <a:bodyPr/>
          <a:lstStyle/>
          <a:p>
            <a:r>
              <a:rPr lang="en-US" dirty="0"/>
              <a:t>English generation prompt:
Create a 16:9 editable PowerPoint architecture figure for a systems paper titled "Long-Context LLM Serving with Cheap Preempt-Resume." Use an OSDI/SOSP-style system design diagram inspired by vLLM serving architecture. Match the provided reference figure's layout, pastel colors, dashed mechanism regions, thick black outlines, and editable PowerPoint shapes. Show a global SLO-aware router receiving short latency-sensitive requests, users, and long-context RAG requests. Show two vLLM engines. Each engine should contain a scheduler, waiting queue, running queue, model executor, PagedAttention block table, GPU memory, and GPU KV block pool. Overlay three mechanisms: Mechanism 1 continuous delta checkpoint from completed GPU KV blocks to host pinned memory and /dev/shm tmpfs mirror; Mechanism 2 V3 cheap reload from host pinned memory or /dev/shm back to GPU KV blocks, skipping full reprefill and recomputing only the final token; Mechanism 3 SLO-aware cross-engine picker that preempts a high-slack checkpointed request, frees GPU KV blocks for a low-slack request, and reroutes the victim to a peer engine with KV capacity and SLO slack. Use editable text labels, native PowerPoint rounded rectangles, dashed boxes, document icons, user icons, chip icons, queue blocks, and arrow connectors. Keep all text accurate and readable.</a:t>
            </a:r>
          </a:p>
        </p:txBody>
      </p:sp>
      <p:sp>
        <p:nvSpPr>
          <p:cNvPr id="4" name="Slide Number Placeholder 3">
            <a:extLst>
              <a:ext uri="{FF2B5EF4-FFF2-40B4-BE49-F238E27FC236}">
                <a16:creationId xmlns:a16="http://schemas.microsoft.com/office/drawing/2014/main" id="{0B9557FF-7800-380B-4A9F-E8EB229F4F85}"/>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742674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8E1C-EAE2-32E3-FD68-3FC0E19C0A0A}"/>
            </a:ext>
          </a:extLst>
        </p:cNvPr>
        <p:cNvGrpSpPr/>
        <p:nvPr/>
      </p:nvGrpSpPr>
      <p:grpSpPr>
        <a:xfrm>
          <a:off x="0" y="0"/>
          <a:ext cx="0" cy="0"/>
          <a:chOff x="0" y="0"/>
          <a:chExt cx="0" cy="0"/>
        </a:xfrm>
      </p:grpSpPr>
      <p:sp>
        <p:nvSpPr>
          <p:cNvPr id="309" name="Shape 54">
            <a:extLst>
              <a:ext uri="{FF2B5EF4-FFF2-40B4-BE49-F238E27FC236}">
                <a16:creationId xmlns:a16="http://schemas.microsoft.com/office/drawing/2014/main" id="{4B2B8E73-7910-3A15-904D-81966EA6D09E}"/>
              </a:ext>
            </a:extLst>
          </p:cNvPr>
          <p:cNvSpPr/>
          <p:nvPr/>
        </p:nvSpPr>
        <p:spPr>
          <a:xfrm>
            <a:off x="6271510" y="2806212"/>
            <a:ext cx="4769601" cy="3038344"/>
          </a:xfrm>
          <a:prstGeom prst="roundRect">
            <a:avLst/>
          </a:prstGeom>
          <a:solidFill>
            <a:srgbClr val="F4F4F4">
              <a:alpha val="90000"/>
            </a:srgbClr>
          </a:solidFill>
          <a:ln w="13970">
            <a:solidFill>
              <a:srgbClr val="000000"/>
            </a:solidFill>
            <a:prstDash val="solid"/>
          </a:ln>
        </p:spPr>
        <p:txBody>
          <a:bodyPr/>
          <a:lstStyle/>
          <a:p>
            <a:endParaRPr lang="zh-CN" altLang="en-US" sz="1600" dirty="0"/>
          </a:p>
        </p:txBody>
      </p:sp>
      <p:sp>
        <p:nvSpPr>
          <p:cNvPr id="310" name="Shape 0">
            <a:extLst>
              <a:ext uri="{FF2B5EF4-FFF2-40B4-BE49-F238E27FC236}">
                <a16:creationId xmlns:a16="http://schemas.microsoft.com/office/drawing/2014/main" id="{C0BA783A-F380-CD23-A2E8-5F630AA1D4D8}"/>
              </a:ext>
            </a:extLst>
          </p:cNvPr>
          <p:cNvSpPr>
            <a:spLocks/>
          </p:cNvSpPr>
          <p:nvPr/>
        </p:nvSpPr>
        <p:spPr>
          <a:xfrm>
            <a:off x="7550265" y="1258919"/>
            <a:ext cx="2150497" cy="1319236"/>
          </a:xfrm>
          <a:prstGeom prst="roundRect">
            <a:avLst>
              <a:gd name="adj" fmla="val 7000"/>
            </a:avLst>
          </a:prstGeom>
          <a:solidFill>
            <a:srgbClr val="EDF7FF"/>
          </a:solidFill>
          <a:ln w="19050">
            <a:solidFill>
              <a:srgbClr val="111111"/>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p>
        </p:txBody>
      </p:sp>
      <p:sp>
        <p:nvSpPr>
          <p:cNvPr id="311" name="Text 1">
            <a:extLst>
              <a:ext uri="{FF2B5EF4-FFF2-40B4-BE49-F238E27FC236}">
                <a16:creationId xmlns:a16="http://schemas.microsoft.com/office/drawing/2014/main" id="{35E4C8B9-EB8A-5C9D-0178-4803A1828A5E}"/>
              </a:ext>
            </a:extLst>
          </p:cNvPr>
          <p:cNvSpPr>
            <a:spLocks/>
          </p:cNvSpPr>
          <p:nvPr/>
        </p:nvSpPr>
        <p:spPr>
          <a:xfrm>
            <a:off x="8157465" y="1377195"/>
            <a:ext cx="1084284" cy="245651"/>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111111"/>
                </a:solidFill>
                <a:latin typeface="Arial" pitchFamily="34" charset="0"/>
                <a:ea typeface="Arial" pitchFamily="34" charset="-122"/>
                <a:cs typeface="Arial" pitchFamily="34" charset="-120"/>
              </a:rPr>
              <a:t>Scheduler</a:t>
            </a:r>
            <a:endParaRPr lang="en-US" sz="1400" dirty="0"/>
          </a:p>
        </p:txBody>
      </p:sp>
      <p:sp>
        <p:nvSpPr>
          <p:cNvPr id="312" name="Text 2">
            <a:extLst>
              <a:ext uri="{FF2B5EF4-FFF2-40B4-BE49-F238E27FC236}">
                <a16:creationId xmlns:a16="http://schemas.microsoft.com/office/drawing/2014/main" id="{CAE1D3DE-882D-992F-27DD-8D52F05E6169}"/>
              </a:ext>
            </a:extLst>
          </p:cNvPr>
          <p:cNvSpPr>
            <a:spLocks/>
          </p:cNvSpPr>
          <p:nvPr/>
        </p:nvSpPr>
        <p:spPr>
          <a:xfrm>
            <a:off x="7779704" y="1734160"/>
            <a:ext cx="1199978" cy="227455"/>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11111"/>
                </a:solidFill>
                <a:latin typeface="Arial" pitchFamily="34" charset="0"/>
                <a:ea typeface="Arial" pitchFamily="34" charset="-122"/>
                <a:cs typeface="Arial" pitchFamily="34" charset="-120"/>
              </a:rPr>
              <a:t>Waiting Queue</a:t>
            </a:r>
            <a:endParaRPr lang="en-US" sz="1200" dirty="0"/>
          </a:p>
        </p:txBody>
      </p:sp>
      <p:sp>
        <p:nvSpPr>
          <p:cNvPr id="313" name="Text 3">
            <a:extLst>
              <a:ext uri="{FF2B5EF4-FFF2-40B4-BE49-F238E27FC236}">
                <a16:creationId xmlns:a16="http://schemas.microsoft.com/office/drawing/2014/main" id="{DA6143E1-EF58-98F4-FF5F-5A5F550156C7}"/>
              </a:ext>
            </a:extLst>
          </p:cNvPr>
          <p:cNvSpPr>
            <a:spLocks/>
          </p:cNvSpPr>
          <p:nvPr/>
        </p:nvSpPr>
        <p:spPr>
          <a:xfrm>
            <a:off x="7897663" y="2170138"/>
            <a:ext cx="1527692" cy="227455"/>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11111"/>
                </a:solidFill>
                <a:latin typeface="Arial" pitchFamily="34" charset="0"/>
                <a:ea typeface="Arial" pitchFamily="34" charset="-122"/>
                <a:cs typeface="Arial" pitchFamily="34" charset="-120"/>
              </a:rPr>
              <a:t>Running Queue</a:t>
            </a:r>
            <a:endParaRPr lang="en-US" sz="1200" dirty="0"/>
          </a:p>
        </p:txBody>
      </p:sp>
      <p:cxnSp>
        <p:nvCxnSpPr>
          <p:cNvPr id="331" name="Connector 11">
            <a:extLst>
              <a:ext uri="{FF2B5EF4-FFF2-40B4-BE49-F238E27FC236}">
                <a16:creationId xmlns:a16="http://schemas.microsoft.com/office/drawing/2014/main" id="{73E9B120-297A-B9BE-B9BA-46DFB0BD0FD2}"/>
              </a:ext>
            </a:extLst>
          </p:cNvPr>
          <p:cNvCxnSpPr>
            <a:cxnSpLocks/>
            <a:stCxn id="403" idx="2"/>
            <a:endCxn id="378" idx="0"/>
          </p:cNvCxnSpPr>
          <p:nvPr/>
        </p:nvCxnSpPr>
        <p:spPr>
          <a:xfrm>
            <a:off x="8321007" y="3941027"/>
            <a:ext cx="275884" cy="196979"/>
          </a:xfrm>
          <a:prstGeom prst="line">
            <a:avLst/>
          </a:prstGeom>
          <a:ln w="25400">
            <a:solidFill>
              <a:srgbClr val="00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18" name="Connector 11">
            <a:extLst>
              <a:ext uri="{FF2B5EF4-FFF2-40B4-BE49-F238E27FC236}">
                <a16:creationId xmlns:a16="http://schemas.microsoft.com/office/drawing/2014/main" id="{3763749F-B13F-DE2C-F151-BA76C10AD507}"/>
              </a:ext>
            </a:extLst>
          </p:cNvPr>
          <p:cNvCxnSpPr>
            <a:cxnSpLocks/>
          </p:cNvCxnSpPr>
          <p:nvPr/>
        </p:nvCxnSpPr>
        <p:spPr>
          <a:xfrm>
            <a:off x="8279014" y="2578155"/>
            <a:ext cx="62523" cy="504561"/>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51" name="Shape 49">
            <a:extLst>
              <a:ext uri="{FF2B5EF4-FFF2-40B4-BE49-F238E27FC236}">
                <a16:creationId xmlns:a16="http://schemas.microsoft.com/office/drawing/2014/main" id="{F2983432-DA31-52E9-23F9-0BE341D1618F}"/>
              </a:ext>
            </a:extLst>
          </p:cNvPr>
          <p:cNvSpPr/>
          <p:nvPr/>
        </p:nvSpPr>
        <p:spPr>
          <a:xfrm>
            <a:off x="4984333" y="618667"/>
            <a:ext cx="2311725" cy="419085"/>
          </a:xfrm>
          <a:prstGeom prst="roundRect">
            <a:avLst/>
          </a:prstGeom>
          <a:solidFill>
            <a:srgbClr val="DDEBF7"/>
          </a:solidFill>
          <a:ln w="12700">
            <a:solidFill>
              <a:srgbClr val="000000"/>
            </a:solidFill>
            <a:prstDash val="solid"/>
          </a:ln>
        </p:spPr>
        <p:txBody>
          <a:bodyPr/>
          <a:lstStyle/>
          <a:p>
            <a:endParaRPr lang="zh-CN" altLang="en-US"/>
          </a:p>
        </p:txBody>
      </p:sp>
      <p:sp>
        <p:nvSpPr>
          <p:cNvPr id="52" name="Text 50">
            <a:extLst>
              <a:ext uri="{FF2B5EF4-FFF2-40B4-BE49-F238E27FC236}">
                <a16:creationId xmlns:a16="http://schemas.microsoft.com/office/drawing/2014/main" id="{B829BC1F-438D-8736-0441-7189D3A76F82}"/>
              </a:ext>
            </a:extLst>
          </p:cNvPr>
          <p:cNvSpPr/>
          <p:nvPr/>
        </p:nvSpPr>
        <p:spPr>
          <a:xfrm>
            <a:off x="5004611" y="638946"/>
            <a:ext cx="2271168" cy="378528"/>
          </a:xfrm>
          <a:prstGeom prst="rect">
            <a:avLst/>
          </a:prstGeom>
          <a:noFill/>
          <a:ln/>
        </p:spPr>
        <p:txBody>
          <a:bodyPr wrap="square" lIns="254" tIns="254" rIns="254" bIns="254" rtlCol="0" anchor="ctr">
            <a:normAutofit/>
          </a:bodyPr>
          <a:lstStyle/>
          <a:p>
            <a:pPr marL="0" indent="0" algn="ctr">
              <a:buNone/>
            </a:pPr>
            <a:r>
              <a:rPr lang="en-US" sz="1220" b="1" dirty="0">
                <a:solidFill>
                  <a:srgbClr val="000000"/>
                </a:solidFill>
                <a:latin typeface="Arial" pitchFamily="34" charset="0"/>
                <a:ea typeface="Arial" pitchFamily="34" charset="-122"/>
                <a:cs typeface="Arial" pitchFamily="34" charset="-120"/>
              </a:rPr>
              <a:t>Router (KV-aware least-load)</a:t>
            </a:r>
            <a:endParaRPr lang="en-US" sz="1220" dirty="0"/>
          </a:p>
        </p:txBody>
      </p:sp>
      <p:pic>
        <p:nvPicPr>
          <p:cNvPr id="181" name="图形 17">
            <a:extLst>
              <a:ext uri="{FF2B5EF4-FFF2-40B4-BE49-F238E27FC236}">
                <a16:creationId xmlns:a16="http://schemas.microsoft.com/office/drawing/2014/main" id="{543B7AB9-93FE-8E61-604E-901181C511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61" y="83291"/>
            <a:ext cx="492048" cy="492048"/>
          </a:xfrm>
          <a:prstGeom prst="rect">
            <a:avLst/>
          </a:prstGeom>
        </p:spPr>
      </p:pic>
      <p:pic>
        <p:nvPicPr>
          <p:cNvPr id="182" name="图形 181">
            <a:extLst>
              <a:ext uri="{FF2B5EF4-FFF2-40B4-BE49-F238E27FC236}">
                <a16:creationId xmlns:a16="http://schemas.microsoft.com/office/drawing/2014/main" id="{9FFFED45-1131-71A9-26C1-D17560DCD6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6578" y="68303"/>
            <a:ext cx="467380" cy="467380"/>
          </a:xfrm>
          <a:prstGeom prst="rect">
            <a:avLst/>
          </a:prstGeom>
        </p:spPr>
      </p:pic>
      <p:sp>
        <p:nvSpPr>
          <p:cNvPr id="57" name="Shape 54">
            <a:extLst>
              <a:ext uri="{FF2B5EF4-FFF2-40B4-BE49-F238E27FC236}">
                <a16:creationId xmlns:a16="http://schemas.microsoft.com/office/drawing/2014/main" id="{F3616169-3007-09BD-2FB4-EB455B9D56F1}"/>
              </a:ext>
            </a:extLst>
          </p:cNvPr>
          <p:cNvSpPr/>
          <p:nvPr/>
        </p:nvSpPr>
        <p:spPr>
          <a:xfrm>
            <a:off x="1024647" y="2789937"/>
            <a:ext cx="4769601" cy="3054619"/>
          </a:xfrm>
          <a:prstGeom prst="roundRect">
            <a:avLst/>
          </a:prstGeom>
          <a:solidFill>
            <a:srgbClr val="F4F4F4">
              <a:alpha val="90000"/>
            </a:srgbClr>
          </a:solidFill>
          <a:ln w="13970">
            <a:solidFill>
              <a:srgbClr val="000000"/>
            </a:solidFill>
            <a:prstDash val="solid"/>
          </a:ln>
        </p:spPr>
        <p:txBody>
          <a:bodyPr/>
          <a:lstStyle/>
          <a:p>
            <a:endParaRPr lang="zh-CN" altLang="en-US" sz="1600" dirty="0"/>
          </a:p>
        </p:txBody>
      </p:sp>
      <p:sp>
        <p:nvSpPr>
          <p:cNvPr id="232" name="Shape 0">
            <a:extLst>
              <a:ext uri="{FF2B5EF4-FFF2-40B4-BE49-F238E27FC236}">
                <a16:creationId xmlns:a16="http://schemas.microsoft.com/office/drawing/2014/main" id="{B41B602B-2D21-B2C5-F067-C4D8087774C2}"/>
              </a:ext>
            </a:extLst>
          </p:cNvPr>
          <p:cNvSpPr>
            <a:spLocks/>
          </p:cNvSpPr>
          <p:nvPr/>
        </p:nvSpPr>
        <p:spPr>
          <a:xfrm>
            <a:off x="1780826" y="1373421"/>
            <a:ext cx="2150497" cy="1319236"/>
          </a:xfrm>
          <a:prstGeom prst="roundRect">
            <a:avLst>
              <a:gd name="adj" fmla="val 7000"/>
            </a:avLst>
          </a:prstGeom>
          <a:solidFill>
            <a:srgbClr val="EDF7FF"/>
          </a:solidFill>
          <a:ln w="19050">
            <a:solidFill>
              <a:srgbClr val="111111"/>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p>
        </p:txBody>
      </p:sp>
      <p:sp>
        <p:nvSpPr>
          <p:cNvPr id="233" name="Text 1">
            <a:extLst>
              <a:ext uri="{FF2B5EF4-FFF2-40B4-BE49-F238E27FC236}">
                <a16:creationId xmlns:a16="http://schemas.microsoft.com/office/drawing/2014/main" id="{4BE1B730-C152-ADF4-8CD2-DCC840317D56}"/>
              </a:ext>
            </a:extLst>
          </p:cNvPr>
          <p:cNvSpPr>
            <a:spLocks/>
          </p:cNvSpPr>
          <p:nvPr/>
        </p:nvSpPr>
        <p:spPr>
          <a:xfrm>
            <a:off x="2164780" y="1483409"/>
            <a:ext cx="1084284" cy="245651"/>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111111"/>
                </a:solidFill>
                <a:latin typeface="Arial" pitchFamily="34" charset="0"/>
                <a:ea typeface="Arial" pitchFamily="34" charset="-122"/>
                <a:cs typeface="Arial" pitchFamily="34" charset="-120"/>
              </a:rPr>
              <a:t>Scheduler</a:t>
            </a:r>
            <a:endParaRPr lang="en-US" sz="1400" dirty="0"/>
          </a:p>
        </p:txBody>
      </p:sp>
      <p:sp>
        <p:nvSpPr>
          <p:cNvPr id="234" name="Text 2">
            <a:extLst>
              <a:ext uri="{FF2B5EF4-FFF2-40B4-BE49-F238E27FC236}">
                <a16:creationId xmlns:a16="http://schemas.microsoft.com/office/drawing/2014/main" id="{DB672792-D73F-B8CF-3138-44378ECA57E2}"/>
              </a:ext>
            </a:extLst>
          </p:cNvPr>
          <p:cNvSpPr>
            <a:spLocks/>
          </p:cNvSpPr>
          <p:nvPr/>
        </p:nvSpPr>
        <p:spPr>
          <a:xfrm>
            <a:off x="2069735" y="1841518"/>
            <a:ext cx="1199978" cy="227455"/>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11111"/>
                </a:solidFill>
                <a:latin typeface="Arial" pitchFamily="34" charset="0"/>
                <a:ea typeface="Arial" pitchFamily="34" charset="-122"/>
                <a:cs typeface="Arial" pitchFamily="34" charset="-120"/>
              </a:rPr>
              <a:t>Waiting Queue</a:t>
            </a:r>
            <a:endParaRPr lang="en-US" sz="1200" dirty="0"/>
          </a:p>
        </p:txBody>
      </p:sp>
      <p:sp>
        <p:nvSpPr>
          <p:cNvPr id="235" name="Text 3">
            <a:extLst>
              <a:ext uri="{FF2B5EF4-FFF2-40B4-BE49-F238E27FC236}">
                <a16:creationId xmlns:a16="http://schemas.microsoft.com/office/drawing/2014/main" id="{C741F13E-6D8A-5AB3-1E83-9EB97CA0D53B}"/>
              </a:ext>
            </a:extLst>
          </p:cNvPr>
          <p:cNvSpPr>
            <a:spLocks/>
          </p:cNvSpPr>
          <p:nvPr/>
        </p:nvSpPr>
        <p:spPr>
          <a:xfrm>
            <a:off x="2004280" y="2274904"/>
            <a:ext cx="1527692" cy="227455"/>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11111"/>
                </a:solidFill>
                <a:latin typeface="Arial" pitchFamily="34" charset="0"/>
                <a:ea typeface="Arial" pitchFamily="34" charset="-122"/>
                <a:cs typeface="Arial" pitchFamily="34" charset="-120"/>
              </a:rPr>
              <a:t>Running Queue</a:t>
            </a:r>
            <a:endParaRPr lang="en-US" sz="1200" dirty="0"/>
          </a:p>
        </p:txBody>
      </p:sp>
      <p:sp>
        <p:nvSpPr>
          <p:cNvPr id="257" name="Rounded Rectangle 1">
            <a:extLst>
              <a:ext uri="{FF2B5EF4-FFF2-40B4-BE49-F238E27FC236}">
                <a16:creationId xmlns:a16="http://schemas.microsoft.com/office/drawing/2014/main" id="{17642174-FDE5-2E79-3CD5-179D1CF3D0CA}"/>
              </a:ext>
            </a:extLst>
          </p:cNvPr>
          <p:cNvSpPr/>
          <p:nvPr/>
        </p:nvSpPr>
        <p:spPr>
          <a:xfrm>
            <a:off x="2543078" y="3150522"/>
            <a:ext cx="1710860" cy="490247"/>
          </a:xfrm>
          <a:prstGeom prst="roundRect">
            <a:avLst>
              <a:gd name="adj" fmla="val 15000"/>
            </a:avLst>
          </a:prstGeom>
          <a:solidFill>
            <a:srgbClr val="F2F2F2"/>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050"/>
          </a:p>
        </p:txBody>
      </p:sp>
      <p:sp>
        <p:nvSpPr>
          <p:cNvPr id="258" name="TextBox 2">
            <a:extLst>
              <a:ext uri="{FF2B5EF4-FFF2-40B4-BE49-F238E27FC236}">
                <a16:creationId xmlns:a16="http://schemas.microsoft.com/office/drawing/2014/main" id="{8C20E50A-0EF6-ECB5-D9B6-242DD2397F24}"/>
              </a:ext>
            </a:extLst>
          </p:cNvPr>
          <p:cNvSpPr txBox="1"/>
          <p:nvPr/>
        </p:nvSpPr>
        <p:spPr>
          <a:xfrm>
            <a:off x="2704565" y="3262480"/>
            <a:ext cx="1413796" cy="241092"/>
          </a:xfrm>
          <a:prstGeom prst="rect">
            <a:avLst/>
          </a:prstGeom>
          <a:noFill/>
        </p:spPr>
        <p:txBody>
          <a:bodyPr wrap="square" lIns="25400" tIns="12700" rIns="25400" bIns="1270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400" b="1" dirty="0">
                <a:solidFill>
                  <a:srgbClr val="000000"/>
                </a:solidFill>
                <a:latin typeface="Arial"/>
              </a:rPr>
              <a:t>Model Executor</a:t>
            </a:r>
          </a:p>
        </p:txBody>
      </p:sp>
      <p:cxnSp>
        <p:nvCxnSpPr>
          <p:cNvPr id="266" name="Connector 11">
            <a:extLst>
              <a:ext uri="{FF2B5EF4-FFF2-40B4-BE49-F238E27FC236}">
                <a16:creationId xmlns:a16="http://schemas.microsoft.com/office/drawing/2014/main" id="{5185A029-D3D6-C522-C4FB-CF788AB8F1E0}"/>
              </a:ext>
            </a:extLst>
          </p:cNvPr>
          <p:cNvCxnSpPr>
            <a:cxnSpLocks/>
            <a:stCxn id="257" idx="2"/>
          </p:cNvCxnSpPr>
          <p:nvPr/>
        </p:nvCxnSpPr>
        <p:spPr>
          <a:xfrm>
            <a:off x="3398508" y="3640769"/>
            <a:ext cx="975505" cy="631343"/>
          </a:xfrm>
          <a:prstGeom prst="line">
            <a:avLst/>
          </a:prstGeom>
          <a:ln w="25400">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67" name="Connector 11">
            <a:extLst>
              <a:ext uri="{FF2B5EF4-FFF2-40B4-BE49-F238E27FC236}">
                <a16:creationId xmlns:a16="http://schemas.microsoft.com/office/drawing/2014/main" id="{D1F199BD-3126-B0A3-A0DF-B5F80653C185}"/>
              </a:ext>
            </a:extLst>
          </p:cNvPr>
          <p:cNvCxnSpPr>
            <a:cxnSpLocks/>
          </p:cNvCxnSpPr>
          <p:nvPr/>
        </p:nvCxnSpPr>
        <p:spPr>
          <a:xfrm>
            <a:off x="3298837" y="2692657"/>
            <a:ext cx="57366" cy="457388"/>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89" name="Shape 171">
            <a:extLst>
              <a:ext uri="{FF2B5EF4-FFF2-40B4-BE49-F238E27FC236}">
                <a16:creationId xmlns:a16="http://schemas.microsoft.com/office/drawing/2014/main" id="{D33EF550-0694-E97A-5442-6D6E3EA6125E}"/>
              </a:ext>
            </a:extLst>
          </p:cNvPr>
          <p:cNvSpPr/>
          <p:nvPr/>
        </p:nvSpPr>
        <p:spPr>
          <a:xfrm>
            <a:off x="1148014" y="6177571"/>
            <a:ext cx="9790546" cy="605951"/>
          </a:xfrm>
          <a:prstGeom prst="roundRect">
            <a:avLst/>
          </a:prstGeom>
          <a:solidFill>
            <a:srgbClr val="B8D2ED"/>
          </a:solidFill>
          <a:ln w="27940">
            <a:solidFill>
              <a:srgbClr val="000000"/>
            </a:solidFill>
            <a:prstDash val="solid"/>
          </a:ln>
        </p:spPr>
        <p:txBody>
          <a:bodyPr/>
          <a:lstStyle/>
          <a:p>
            <a:endParaRPr lang="zh-CN" altLang="en-US" sz="1600"/>
          </a:p>
        </p:txBody>
      </p:sp>
      <p:sp>
        <p:nvSpPr>
          <p:cNvPr id="290" name="Text 181">
            <a:extLst>
              <a:ext uri="{FF2B5EF4-FFF2-40B4-BE49-F238E27FC236}">
                <a16:creationId xmlns:a16="http://schemas.microsoft.com/office/drawing/2014/main" id="{750A416F-BC12-8043-7864-7F738582F3F0}"/>
              </a:ext>
            </a:extLst>
          </p:cNvPr>
          <p:cNvSpPr/>
          <p:nvPr/>
        </p:nvSpPr>
        <p:spPr>
          <a:xfrm>
            <a:off x="4421005" y="6283265"/>
            <a:ext cx="2656756" cy="426920"/>
          </a:xfrm>
          <a:prstGeom prst="rect">
            <a:avLst/>
          </a:prstGeom>
          <a:noFill/>
          <a:ln/>
        </p:spPr>
        <p:txBody>
          <a:bodyPr wrap="square" lIns="0" tIns="0" rIns="0" bIns="0" rtlCol="0" anchor="ctr">
            <a:normAutofit/>
          </a:bodyPr>
          <a:lstStyle/>
          <a:p>
            <a:pPr algn="ctr"/>
            <a:r>
              <a:rPr lang="en-US" sz="1600" dirty="0">
                <a:solidFill>
                  <a:srgbClr val="000000"/>
                </a:solidFill>
                <a:latin typeface="Arial" pitchFamily="34" charset="0"/>
                <a:ea typeface="Arial" pitchFamily="34" charset="-122"/>
                <a:cs typeface="Arial" pitchFamily="34" charset="-120"/>
              </a:rPr>
              <a:t>Host RAM KV Pool</a:t>
            </a:r>
            <a:r>
              <a:rPr lang="zh-CN" altLang="en-US" sz="1600" dirty="0">
                <a:solidFill>
                  <a:srgbClr val="000000"/>
                </a:solidFill>
                <a:latin typeface="Arial" pitchFamily="34" charset="0"/>
                <a:ea typeface="Arial" pitchFamily="34" charset="-122"/>
                <a:cs typeface="Arial" pitchFamily="34" charset="-120"/>
              </a:rPr>
              <a:t/>
            </a:r>
            <a:r>
              <a:rPr lang="en-US" altLang="zh-CN" sz="1600" dirty="0">
                <a:solidFill>
                  <a:srgbClr val="000000"/>
                </a:solidFill>
                <a:latin typeface="Arial" pitchFamily="34" charset="0"/>
                <a:ea typeface="Arial" pitchFamily="34" charset="-122"/>
                <a:cs typeface="Arial" pitchFamily="34" charset="-120"/>
              </a:rPr>
              <a:t/>
            </a:r>
            <a:r>
              <a:rPr lang="zh-CN" altLang="en-US" sz="1600" dirty="0">
                <a:solidFill>
                  <a:srgbClr val="000000"/>
                </a:solidFill>
                <a:latin typeface="Arial" pitchFamily="34" charset="0"/>
                <a:ea typeface="Arial" pitchFamily="34" charset="-122"/>
                <a:cs typeface="Arial" pitchFamily="34" charset="-120"/>
              </a:rPr>
              <a:t/>
            </a:r>
            <a:r>
              <a:rPr lang="en-US" altLang="zh-CN" sz="1600" dirty="0">
                <a:solidFill>
                  <a:srgbClr val="000000"/>
                </a:solidFill>
                <a:latin typeface="Arial" pitchFamily="34" charset="0"/>
                <a:ea typeface="Arial" pitchFamily="34" charset="-122"/>
                <a:cs typeface="Arial" pitchFamily="34" charset="-120"/>
              </a:rPr>
              <a:t/>
            </a:r>
            <a:endParaRPr lang="en-US" sz="1600" dirty="0"/>
          </a:p>
        </p:txBody>
      </p:sp>
      <p:sp>
        <p:nvSpPr>
          <p:cNvPr id="291" name="Text 185">
            <a:extLst>
              <a:ext uri="{FF2B5EF4-FFF2-40B4-BE49-F238E27FC236}">
                <a16:creationId xmlns:a16="http://schemas.microsoft.com/office/drawing/2014/main" id="{AF28C15D-36B6-631A-6195-E722AD992F03}"/>
              </a:ext>
            </a:extLst>
          </p:cNvPr>
          <p:cNvSpPr/>
          <p:nvPr/>
        </p:nvSpPr>
        <p:spPr>
          <a:xfrm>
            <a:off x="1174479" y="5881671"/>
            <a:ext cx="4269198" cy="275432"/>
          </a:xfrm>
          <a:prstGeom prst="rect">
            <a:avLst/>
          </a:prstGeom>
          <a:noFill/>
          <a:ln/>
        </p:spPr>
        <p:txBody>
          <a:bodyPr wrap="square" lIns="0" tIns="0" rIns="0" bIns="0" rtlCol="0" anchor="ctr">
            <a:normAutofit/>
          </a:bodyPr>
          <a:lstStyle/>
          <a:p>
            <a:r>
              <a:rPr lang="en-US" sz="1600" b="1" dirty="0">
                <a:solidFill>
                  <a:srgbClr val="000000"/>
                </a:solidFill>
                <a:latin typeface="Arial" pitchFamily="34" charset="0"/>
                <a:ea typeface="Arial" pitchFamily="34" charset="-122"/>
                <a:cs typeface="Arial" pitchFamily="34" charset="-120"/>
              </a:rPr>
              <a:t>Mechanism 1: Continuous Delta Checkpoint (write)</a:t>
            </a:r>
            <a:endParaRPr lang="en-US" sz="1600" dirty="0"/>
          </a:p>
        </p:txBody>
      </p:sp>
      <p:sp>
        <p:nvSpPr>
          <p:cNvPr id="293" name="Shape 163">
            <a:extLst>
              <a:ext uri="{FF2B5EF4-FFF2-40B4-BE49-F238E27FC236}">
                <a16:creationId xmlns:a16="http://schemas.microsoft.com/office/drawing/2014/main" id="{938E5DB6-20AD-8B81-C21F-7EC53A4DAB29}"/>
              </a:ext>
            </a:extLst>
          </p:cNvPr>
          <p:cNvSpPr/>
          <p:nvPr/>
        </p:nvSpPr>
        <p:spPr>
          <a:xfrm>
            <a:off x="1448233" y="3851226"/>
            <a:ext cx="4089790" cy="1491333"/>
          </a:xfrm>
          <a:prstGeom prst="roundRect">
            <a:avLst/>
          </a:prstGeom>
          <a:solidFill>
            <a:srgbClr val="F3FAF3">
              <a:alpha val="0"/>
            </a:srgbClr>
          </a:solidFill>
          <a:ln w="27940">
            <a:solidFill>
              <a:srgbClr val="000000"/>
            </a:solidFill>
            <a:prstDash val="solid"/>
          </a:ln>
        </p:spPr>
        <p:txBody>
          <a:bodyPr/>
          <a:lstStyle/>
          <a:p>
            <a:endParaRPr lang="zh-CN" altLang="en-US" sz="2400" dirty="0"/>
          </a:p>
        </p:txBody>
      </p:sp>
      <p:sp>
        <p:nvSpPr>
          <p:cNvPr id="304" name="Text 183">
            <a:extLst>
              <a:ext uri="{FF2B5EF4-FFF2-40B4-BE49-F238E27FC236}">
                <a16:creationId xmlns:a16="http://schemas.microsoft.com/office/drawing/2014/main" id="{26C1F9B9-B46A-E579-6D7A-403AEF48CB66}"/>
              </a:ext>
            </a:extLst>
          </p:cNvPr>
          <p:cNvSpPr/>
          <p:nvPr/>
        </p:nvSpPr>
        <p:spPr>
          <a:xfrm>
            <a:off x="3721069" y="5077580"/>
            <a:ext cx="459054" cy="546220"/>
          </a:xfrm>
          <a:prstGeom prst="rect">
            <a:avLst/>
          </a:prstGeom>
          <a:noFill/>
          <a:ln/>
        </p:spPr>
        <p:txBody>
          <a:bodyPr wrap="square" lIns="0" tIns="0" rIns="0" bIns="0" rtlCol="0" anchor="ctr">
            <a:normAutofit fontScale="92500"/>
          </a:bodyPr>
          <a:lstStyle/>
          <a:p>
            <a:r>
              <a:t>Delta</a:t>
            </a:r>
          </a:p>
          <a:p>
            <a:r>
              <a:t>Checkpoint</a:t>
            </a:r>
          </a:p>
        </p:txBody>
      </p:sp>
      <p:sp>
        <p:nvSpPr>
          <p:cNvPr id="332" name="Text 55">
            <a:extLst>
              <a:ext uri="{FF2B5EF4-FFF2-40B4-BE49-F238E27FC236}">
                <a16:creationId xmlns:a16="http://schemas.microsoft.com/office/drawing/2014/main" id="{1BB6A872-DE91-42FD-6F0C-3FE68E8849B6}"/>
              </a:ext>
            </a:extLst>
          </p:cNvPr>
          <p:cNvSpPr/>
          <p:nvPr/>
        </p:nvSpPr>
        <p:spPr>
          <a:xfrm>
            <a:off x="4631146" y="2908746"/>
            <a:ext cx="914400" cy="210312"/>
          </a:xfrm>
          <a:prstGeom prst="rect">
            <a:avLst/>
          </a:prstGeom>
          <a:noFill/>
          <a:ln/>
        </p:spPr>
        <p:txBody>
          <a:bodyPr wrap="square" lIns="254" tIns="254" rIns="254" bIns="254" rtlCol="0" anchor="ctr">
            <a:normAutofit lnSpcReduction="10000"/>
          </a:bodyPr>
          <a:lstStyle/>
          <a:p>
            <a:pPr marL="0" indent="0" algn="l">
              <a:buNone/>
            </a:pPr>
            <a:r>
              <a:rPr lang="en-US" sz="1400" b="1" dirty="0">
                <a:solidFill>
                  <a:srgbClr val="000000"/>
                </a:solidFill>
                <a:latin typeface="Arial" pitchFamily="34" charset="0"/>
                <a:ea typeface="Arial" pitchFamily="34" charset="-122"/>
                <a:cs typeface="Arial" pitchFamily="34" charset="-120"/>
              </a:rPr>
              <a:t>GPU </a:t>
            </a:r>
            <a:r>
              <a:rPr lang="en-US" altLang="zh-CN" sz="1400" b="1" dirty="0">
                <a:solidFill>
                  <a:srgbClr val="000000"/>
                </a:solidFill>
                <a:latin typeface="Arial" pitchFamily="34" charset="0"/>
                <a:ea typeface="Arial" pitchFamily="34" charset="-122"/>
                <a:cs typeface="Arial" pitchFamily="34" charset="-120"/>
              </a:rPr>
              <a:t>1</a:t>
            </a:r>
            <a:endParaRPr lang="en-US" sz="1400" dirty="0"/>
          </a:p>
        </p:txBody>
      </p:sp>
      <p:sp>
        <p:nvSpPr>
          <p:cNvPr id="353" name="Shape 163">
            <a:extLst>
              <a:ext uri="{FF2B5EF4-FFF2-40B4-BE49-F238E27FC236}">
                <a16:creationId xmlns:a16="http://schemas.microsoft.com/office/drawing/2014/main" id="{185AB2F2-F181-6353-8E53-20A6EECEE7DE}"/>
              </a:ext>
            </a:extLst>
          </p:cNvPr>
          <p:cNvSpPr/>
          <p:nvPr/>
        </p:nvSpPr>
        <p:spPr>
          <a:xfrm>
            <a:off x="1472535" y="3883258"/>
            <a:ext cx="4089790" cy="1491333"/>
          </a:xfrm>
          <a:prstGeom prst="roundRect">
            <a:avLst/>
          </a:prstGeom>
          <a:solidFill>
            <a:srgbClr val="F3FAF3">
              <a:alpha val="0"/>
            </a:srgbClr>
          </a:solidFill>
          <a:ln w="27940">
            <a:solidFill>
              <a:srgbClr val="000000"/>
            </a:solidFill>
            <a:prstDash val="solid"/>
          </a:ln>
        </p:spPr>
        <p:txBody>
          <a:bodyPr/>
          <a:lstStyle/>
          <a:p>
            <a:endParaRPr lang="zh-CN" altLang="en-US" sz="2400" dirty="0"/>
          </a:p>
        </p:txBody>
      </p:sp>
      <p:sp>
        <p:nvSpPr>
          <p:cNvPr id="333" name="Text 55">
            <a:extLst>
              <a:ext uri="{FF2B5EF4-FFF2-40B4-BE49-F238E27FC236}">
                <a16:creationId xmlns:a16="http://schemas.microsoft.com/office/drawing/2014/main" id="{73AD83F4-4497-0FE0-6539-48D00DAD4FA7}"/>
              </a:ext>
            </a:extLst>
          </p:cNvPr>
          <p:cNvSpPr/>
          <p:nvPr/>
        </p:nvSpPr>
        <p:spPr>
          <a:xfrm>
            <a:off x="10106047" y="2914879"/>
            <a:ext cx="914400" cy="210312"/>
          </a:xfrm>
          <a:prstGeom prst="rect">
            <a:avLst/>
          </a:prstGeom>
          <a:noFill/>
          <a:ln/>
        </p:spPr>
        <p:txBody>
          <a:bodyPr wrap="square" lIns="254" tIns="254" rIns="254" bIns="254"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b="1" dirty="0">
                <a:solidFill>
                  <a:srgbClr val="000000"/>
                </a:solidFill>
                <a:latin typeface="Arial" pitchFamily="34" charset="0"/>
                <a:ea typeface="Arial" pitchFamily="34" charset="-122"/>
                <a:cs typeface="Arial" pitchFamily="34" charset="-120"/>
              </a:rPr>
              <a:t>GPU </a:t>
            </a:r>
            <a:r>
              <a:rPr lang="en-US" altLang="zh-CN" sz="1400" b="1" dirty="0">
                <a:solidFill>
                  <a:srgbClr val="000000"/>
                </a:solidFill>
                <a:latin typeface="Arial" pitchFamily="34" charset="0"/>
                <a:ea typeface="Arial" pitchFamily="34" charset="-122"/>
                <a:cs typeface="Arial" pitchFamily="34" charset="-120"/>
              </a:rPr>
              <a:t>2</a:t>
            </a:r>
            <a:endParaRPr lang="en-US" sz="1400" dirty="0"/>
          </a:p>
        </p:txBody>
      </p:sp>
      <p:sp>
        <p:nvSpPr>
          <p:cNvPr id="334" name="TextBox 6">
            <a:extLst>
              <a:ext uri="{FF2B5EF4-FFF2-40B4-BE49-F238E27FC236}">
                <a16:creationId xmlns:a16="http://schemas.microsoft.com/office/drawing/2014/main" id="{2CF5C6A8-22E2-4795-CE10-5C8D7CC6E84C}"/>
              </a:ext>
            </a:extLst>
          </p:cNvPr>
          <p:cNvSpPr txBox="1"/>
          <p:nvPr/>
        </p:nvSpPr>
        <p:spPr>
          <a:xfrm>
            <a:off x="1590034" y="4194532"/>
            <a:ext cx="1032971" cy="518091"/>
          </a:xfrm>
          <a:prstGeom prst="rect">
            <a:avLst/>
          </a:prstGeom>
          <a:noFill/>
        </p:spPr>
        <p:txBody>
          <a:bodyPr wrap="square" lIns="25400" tIns="12700" rIns="25400" bIns="1270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600" b="1" dirty="0">
                <a:solidFill>
                  <a:srgbClr val="000000"/>
                </a:solidFill>
                <a:latin typeface="Arial"/>
              </a:rPr>
              <a:t>GPU Memory</a:t>
            </a:r>
          </a:p>
        </p:txBody>
      </p:sp>
      <p:sp>
        <p:nvSpPr>
          <p:cNvPr id="348" name="Rounded Rectangle 4">
            <a:extLst>
              <a:ext uri="{FF2B5EF4-FFF2-40B4-BE49-F238E27FC236}">
                <a16:creationId xmlns:a16="http://schemas.microsoft.com/office/drawing/2014/main" id="{AF04BBAB-317B-9508-1A2A-00CCD619D031}"/>
              </a:ext>
            </a:extLst>
          </p:cNvPr>
          <p:cNvSpPr/>
          <p:nvPr/>
        </p:nvSpPr>
        <p:spPr>
          <a:xfrm>
            <a:off x="1731746" y="4857515"/>
            <a:ext cx="1258934" cy="409505"/>
          </a:xfrm>
          <a:prstGeom prst="roundRect">
            <a:avLst>
              <a:gd name="adj" fmla="val 12000"/>
            </a:avLst>
          </a:prstGeom>
          <a:solidFill>
            <a:srgbClr val="F1E5BC"/>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200" b="0" dirty="0">
                <a:solidFill>
                  <a:srgbClr val="000000"/>
                </a:solidFill>
                <a:latin typeface="Arial"/>
              </a:rPr>
              <a:t>Model Weights</a:t>
            </a:r>
            <a:endParaRPr sz="1200" b="0" dirty="0">
              <a:solidFill>
                <a:srgbClr val="000000"/>
              </a:solidFill>
              <a:latin typeface="Arial"/>
            </a:endParaRPr>
          </a:p>
        </p:txBody>
      </p:sp>
      <p:sp>
        <p:nvSpPr>
          <p:cNvPr id="363" name="图形 359" descr="上一步 纯色填充">
            <a:extLst>
              <a:ext uri="{FF2B5EF4-FFF2-40B4-BE49-F238E27FC236}">
                <a16:creationId xmlns:a16="http://schemas.microsoft.com/office/drawing/2014/main" id="{8A66EF6A-6E68-CB06-45F2-FC0ABBFBF3A8}"/>
              </a:ext>
            </a:extLst>
          </p:cNvPr>
          <p:cNvSpPr/>
          <p:nvPr/>
        </p:nvSpPr>
        <p:spPr>
          <a:xfrm rot="2992664" flipV="1">
            <a:off x="3915432" y="5395795"/>
            <a:ext cx="1246948" cy="264409"/>
          </a:xfrm>
          <a:custGeom>
            <a:avLst/>
            <a:gdLst>
              <a:gd name="csX0" fmla="*/ 762000 w 762000"/>
              <a:gd name="csY0" fmla="*/ 99404 h 244367"/>
              <a:gd name="csX1" fmla="*/ 489585 w 762000"/>
              <a:gd name="csY1" fmla="*/ 0 h 244367"/>
              <a:gd name="csX2" fmla="*/ 489585 w 762000"/>
              <a:gd name="csY2" fmla="*/ 57986 h 244367"/>
              <a:gd name="csX3" fmla="*/ 0 w 762000"/>
              <a:gd name="csY3" fmla="*/ 244368 h 244367"/>
              <a:gd name="csX4" fmla="*/ 489585 w 762000"/>
              <a:gd name="csY4" fmla="*/ 144964 h 244367"/>
              <a:gd name="csX5" fmla="*/ 489585 w 762000"/>
              <a:gd name="csY5" fmla="*/ 198808 h 244367"/>
              <a:gd name="csX6" fmla="*/ 762000 w 762000"/>
              <a:gd name="csY6" fmla="*/ 99404 h 24436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62000" h="244367">
                <a:moveTo>
                  <a:pt x="762000" y="99404"/>
                </a:moveTo>
                <a:lnTo>
                  <a:pt x="489585" y="0"/>
                </a:lnTo>
                <a:lnTo>
                  <a:pt x="489585" y="57986"/>
                </a:lnTo>
                <a:cubicBezTo>
                  <a:pt x="71438" y="59642"/>
                  <a:pt x="0" y="244368"/>
                  <a:pt x="0" y="244368"/>
                </a:cubicBezTo>
                <a:cubicBezTo>
                  <a:pt x="0" y="244368"/>
                  <a:pt x="155258" y="146206"/>
                  <a:pt x="489585" y="144964"/>
                </a:cubicBezTo>
                <a:lnTo>
                  <a:pt x="489585" y="198808"/>
                </a:lnTo>
                <a:lnTo>
                  <a:pt x="762000" y="99404"/>
                </a:lnTo>
                <a:close/>
              </a:path>
            </a:pathLst>
          </a:custGeom>
          <a:solidFill>
            <a:srgbClr val="000000"/>
          </a:solidFill>
          <a:ln w="9525" cap="flat">
            <a:noFill/>
            <a:prstDash val="solid"/>
            <a:miter/>
          </a:ln>
        </p:spPr>
        <p:txBody>
          <a:bodyPr/>
          <a:lstStyle/>
          <a:p>
            <a:endParaRPr lang="zh-CN" altLang="en-US" dirty="0"/>
          </a:p>
        </p:txBody>
      </p:sp>
      <p:sp>
        <p:nvSpPr>
          <p:cNvPr id="375" name="TextBox 6">
            <a:extLst>
              <a:ext uri="{FF2B5EF4-FFF2-40B4-BE49-F238E27FC236}">
                <a16:creationId xmlns:a16="http://schemas.microsoft.com/office/drawing/2014/main" id="{1D1376A4-1E6D-2DC8-CBD2-04648962DB7F}"/>
              </a:ext>
            </a:extLst>
          </p:cNvPr>
          <p:cNvSpPr txBox="1"/>
          <p:nvPr/>
        </p:nvSpPr>
        <p:spPr>
          <a:xfrm>
            <a:off x="6694398" y="4258680"/>
            <a:ext cx="1032971" cy="518091"/>
          </a:xfrm>
          <a:prstGeom prst="rect">
            <a:avLst/>
          </a:prstGeom>
          <a:noFill/>
        </p:spPr>
        <p:txBody>
          <a:bodyPr wrap="square" lIns="25400" tIns="12700" rIns="25400" bIns="1270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600" b="1" dirty="0">
                <a:solidFill>
                  <a:srgbClr val="000000"/>
                </a:solidFill>
                <a:latin typeface="Arial"/>
              </a:rPr>
              <a:t>GPU Memory</a:t>
            </a:r>
          </a:p>
        </p:txBody>
      </p:sp>
      <p:sp>
        <p:nvSpPr>
          <p:cNvPr id="376" name="Shape 163">
            <a:extLst>
              <a:ext uri="{FF2B5EF4-FFF2-40B4-BE49-F238E27FC236}">
                <a16:creationId xmlns:a16="http://schemas.microsoft.com/office/drawing/2014/main" id="{48F20431-81F9-615B-32F4-E575094EC3BF}"/>
              </a:ext>
            </a:extLst>
          </p:cNvPr>
          <p:cNvSpPr/>
          <p:nvPr/>
        </p:nvSpPr>
        <p:spPr>
          <a:xfrm>
            <a:off x="6588669" y="4180289"/>
            <a:ext cx="4089790" cy="1491333"/>
          </a:xfrm>
          <a:prstGeom prst="roundRect">
            <a:avLst/>
          </a:prstGeom>
          <a:solidFill>
            <a:srgbClr val="F3FAF3">
              <a:alpha val="0"/>
            </a:srgbClr>
          </a:solidFill>
          <a:ln w="27940">
            <a:solidFill>
              <a:srgbClr val="000000"/>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dirty="0"/>
          </a:p>
        </p:txBody>
      </p:sp>
      <p:sp>
        <p:nvSpPr>
          <p:cNvPr id="377" name="Rounded Rectangle 4">
            <a:extLst>
              <a:ext uri="{FF2B5EF4-FFF2-40B4-BE49-F238E27FC236}">
                <a16:creationId xmlns:a16="http://schemas.microsoft.com/office/drawing/2014/main" id="{D1FF088B-CBC5-247B-C8E9-67EBB34C15AD}"/>
              </a:ext>
            </a:extLst>
          </p:cNvPr>
          <p:cNvSpPr/>
          <p:nvPr/>
        </p:nvSpPr>
        <p:spPr>
          <a:xfrm>
            <a:off x="6836110" y="4921663"/>
            <a:ext cx="1258934" cy="409505"/>
          </a:xfrm>
          <a:prstGeom prst="roundRect">
            <a:avLst>
              <a:gd name="adj" fmla="val 12000"/>
            </a:avLst>
          </a:prstGeom>
          <a:solidFill>
            <a:srgbClr val="F1E5BC"/>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wrap="square" lIns="25400" tIns="12700" rIns="25400" bIns="12700"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200" b="0" dirty="0">
                <a:solidFill>
                  <a:srgbClr val="000000"/>
                </a:solidFill>
                <a:latin typeface="Arial"/>
              </a:rPr>
              <a:t>Model Weights</a:t>
            </a:r>
            <a:endParaRPr sz="1200" b="0" dirty="0">
              <a:solidFill>
                <a:srgbClr val="000000"/>
              </a:solidFill>
              <a:latin typeface="Arial"/>
            </a:endParaRPr>
          </a:p>
        </p:txBody>
      </p:sp>
      <p:sp>
        <p:nvSpPr>
          <p:cNvPr id="378" name="Shape 163">
            <a:extLst>
              <a:ext uri="{FF2B5EF4-FFF2-40B4-BE49-F238E27FC236}">
                <a16:creationId xmlns:a16="http://schemas.microsoft.com/office/drawing/2014/main" id="{599F844A-1C17-A9BC-CE4F-06150623BA72}"/>
              </a:ext>
            </a:extLst>
          </p:cNvPr>
          <p:cNvSpPr/>
          <p:nvPr/>
        </p:nvSpPr>
        <p:spPr>
          <a:xfrm>
            <a:off x="6551996" y="4138006"/>
            <a:ext cx="4089790" cy="1491333"/>
          </a:xfrm>
          <a:prstGeom prst="roundRect">
            <a:avLst/>
          </a:prstGeom>
          <a:solidFill>
            <a:srgbClr val="F3FAF3">
              <a:alpha val="0"/>
            </a:srgbClr>
          </a:solidFill>
          <a:ln w="27940">
            <a:solidFill>
              <a:srgbClr val="000000"/>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dirty="0"/>
          </a:p>
        </p:txBody>
      </p:sp>
      <p:sp>
        <p:nvSpPr>
          <p:cNvPr id="382" name="Shape 163">
            <a:extLst>
              <a:ext uri="{FF2B5EF4-FFF2-40B4-BE49-F238E27FC236}">
                <a16:creationId xmlns:a16="http://schemas.microsoft.com/office/drawing/2014/main" id="{D6656BC0-06D3-012C-8ABF-47106E4A92A2}"/>
              </a:ext>
            </a:extLst>
          </p:cNvPr>
          <p:cNvSpPr/>
          <p:nvPr/>
        </p:nvSpPr>
        <p:spPr>
          <a:xfrm>
            <a:off x="8279014" y="4262871"/>
            <a:ext cx="2111646" cy="633617"/>
          </a:xfrm>
          <a:prstGeom prst="roundRect">
            <a:avLst/>
          </a:prstGeom>
          <a:solidFill>
            <a:srgbClr val="F3FAF3">
              <a:alpha val="0"/>
            </a:srgbClr>
          </a:solidFill>
          <a:ln w="27940">
            <a:solidFill>
              <a:srgbClr val="000000"/>
            </a:solidFill>
            <a:prstDash val="solid"/>
          </a:ln>
        </p:spPr>
        <p:txBody>
          <a:bodyPr/>
          <a:lstStyle/>
          <a:p>
            <a:endParaRPr lang="zh-CN" altLang="en-US" sz="1600"/>
          </a:p>
        </p:txBody>
      </p:sp>
      <p:sp>
        <p:nvSpPr>
          <p:cNvPr id="384" name="Shape 165">
            <a:extLst>
              <a:ext uri="{FF2B5EF4-FFF2-40B4-BE49-F238E27FC236}">
                <a16:creationId xmlns:a16="http://schemas.microsoft.com/office/drawing/2014/main" id="{E9D66597-F2B0-6259-4684-9D68E8EA7276}"/>
              </a:ext>
            </a:extLst>
          </p:cNvPr>
          <p:cNvSpPr/>
          <p:nvPr/>
        </p:nvSpPr>
        <p:spPr>
          <a:xfrm>
            <a:off x="8650841" y="4567346"/>
            <a:ext cx="220346" cy="179031"/>
          </a:xfrm>
          <a:prstGeom prst="rect">
            <a:avLst/>
          </a:prstGeom>
          <a:pattFill prst="wdUpDiag">
            <a:fgClr>
              <a:srgbClr val="ABC9E8"/>
            </a:fgClr>
            <a:bgClr>
              <a:schemeClr val="bg1"/>
            </a:bgClr>
          </a:pattFill>
          <a:ln w="25400">
            <a:solidFill>
              <a:srgbClr val="000000"/>
            </a:solidFill>
            <a:prstDash val="solid"/>
          </a:ln>
        </p:spPr>
        <p:txBody>
          <a:bodyPr/>
          <a:lstStyle/>
          <a:p>
            <a:endParaRPr lang="zh-CN" altLang="en-US" sz="1600"/>
          </a:p>
        </p:txBody>
      </p:sp>
      <p:sp>
        <p:nvSpPr>
          <p:cNvPr id="385" name="Shape 166">
            <a:extLst>
              <a:ext uri="{FF2B5EF4-FFF2-40B4-BE49-F238E27FC236}">
                <a16:creationId xmlns:a16="http://schemas.microsoft.com/office/drawing/2014/main" id="{CC9A5E44-A387-EA0B-1264-FD2675608EE9}"/>
              </a:ext>
            </a:extLst>
          </p:cNvPr>
          <p:cNvSpPr/>
          <p:nvPr/>
        </p:nvSpPr>
        <p:spPr>
          <a:xfrm>
            <a:off x="8871187" y="4567346"/>
            <a:ext cx="220346" cy="179031"/>
          </a:xfrm>
          <a:prstGeom prst="rect">
            <a:avLst/>
          </a:prstGeom>
          <a:pattFill prst="wdUpDiag">
            <a:fgClr>
              <a:srgbClr val="ABC9E8"/>
            </a:fgClr>
            <a:bgClr>
              <a:schemeClr val="bg1"/>
            </a:bgClr>
          </a:pattFill>
          <a:ln w="25400">
            <a:solidFill>
              <a:srgbClr val="000000"/>
            </a:solidFill>
            <a:prstDash val="solid"/>
          </a:ln>
        </p:spPr>
        <p:txBody>
          <a:bodyPr/>
          <a:lstStyle/>
          <a:p>
            <a:endParaRPr lang="zh-CN" altLang="en-US" sz="1600"/>
          </a:p>
        </p:txBody>
      </p:sp>
      <p:sp>
        <p:nvSpPr>
          <p:cNvPr id="386" name="Shape 167">
            <a:extLst>
              <a:ext uri="{FF2B5EF4-FFF2-40B4-BE49-F238E27FC236}">
                <a16:creationId xmlns:a16="http://schemas.microsoft.com/office/drawing/2014/main" id="{BE7318A1-6925-3EA7-FFCD-86D5ACA877E7}"/>
              </a:ext>
            </a:extLst>
          </p:cNvPr>
          <p:cNvSpPr/>
          <p:nvPr/>
        </p:nvSpPr>
        <p:spPr>
          <a:xfrm>
            <a:off x="9091532" y="4567346"/>
            <a:ext cx="220346" cy="179031"/>
          </a:xfrm>
          <a:prstGeom prst="rect">
            <a:avLst/>
          </a:prstGeom>
          <a:pattFill prst="wdUpDiag">
            <a:fgClr>
              <a:srgbClr val="ABC9E8"/>
            </a:fgClr>
            <a:bgClr>
              <a:schemeClr val="bg1"/>
            </a:bgClr>
          </a:pattFill>
          <a:ln w="25400">
            <a:solidFill>
              <a:srgbClr val="000000"/>
            </a:solidFill>
            <a:prstDash val="solid"/>
          </a:ln>
        </p:spPr>
        <p:txBody>
          <a:bodyPr/>
          <a:lstStyle/>
          <a:p>
            <a:endParaRPr lang="zh-CN" altLang="en-US" sz="1600"/>
          </a:p>
        </p:txBody>
      </p:sp>
      <p:sp>
        <p:nvSpPr>
          <p:cNvPr id="387" name="Shape 168">
            <a:extLst>
              <a:ext uri="{FF2B5EF4-FFF2-40B4-BE49-F238E27FC236}">
                <a16:creationId xmlns:a16="http://schemas.microsoft.com/office/drawing/2014/main" id="{3C98ADE4-6110-E63C-F5A1-8FA01D13683C}"/>
              </a:ext>
            </a:extLst>
          </p:cNvPr>
          <p:cNvSpPr/>
          <p:nvPr/>
        </p:nvSpPr>
        <p:spPr>
          <a:xfrm>
            <a:off x="9311878" y="4567346"/>
            <a:ext cx="220346" cy="179031"/>
          </a:xfrm>
          <a:prstGeom prst="rect">
            <a:avLst/>
          </a:prstGeom>
          <a:pattFill prst="wdUpDiag">
            <a:fgClr>
              <a:srgbClr val="ABC9E8"/>
            </a:fgClr>
            <a:bgClr>
              <a:schemeClr val="bg1"/>
            </a:bgClr>
          </a:pattFill>
          <a:ln w="25400">
            <a:solidFill>
              <a:srgbClr val="000000"/>
            </a:solidFill>
            <a:prstDash val="solid"/>
          </a:ln>
        </p:spPr>
        <p:txBody>
          <a:bodyPr/>
          <a:lstStyle/>
          <a:p>
            <a:endParaRPr lang="zh-CN" altLang="en-US" sz="1600"/>
          </a:p>
        </p:txBody>
      </p:sp>
      <p:sp>
        <p:nvSpPr>
          <p:cNvPr id="388" name="Text 169">
            <a:extLst>
              <a:ext uri="{FF2B5EF4-FFF2-40B4-BE49-F238E27FC236}">
                <a16:creationId xmlns:a16="http://schemas.microsoft.com/office/drawing/2014/main" id="{94706CEC-39FA-A06C-67B1-6E44CFBA8863}"/>
              </a:ext>
            </a:extLst>
          </p:cNvPr>
          <p:cNvSpPr/>
          <p:nvPr/>
        </p:nvSpPr>
        <p:spPr>
          <a:xfrm>
            <a:off x="9605672" y="4498488"/>
            <a:ext cx="206574" cy="275432"/>
          </a:xfrm>
          <a:prstGeom prst="rect">
            <a:avLst/>
          </a:prstGeom>
          <a:noFill/>
          <a:ln/>
        </p:spPr>
        <p:txBody>
          <a:bodyPr wrap="square" lIns="0" tIns="0" rIns="0" bIns="0" rtlCol="0" anchor="ctr">
            <a:normAutofit/>
          </a:bodyPr>
          <a:lstStyle/>
          <a:p>
            <a:pPr algn="ct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89" name="Shape 170">
            <a:extLst>
              <a:ext uri="{FF2B5EF4-FFF2-40B4-BE49-F238E27FC236}">
                <a16:creationId xmlns:a16="http://schemas.microsoft.com/office/drawing/2014/main" id="{A3B5FAC5-5FF5-5AAE-9979-6E8ABC6A2A5F}"/>
              </a:ext>
            </a:extLst>
          </p:cNvPr>
          <p:cNvSpPr/>
          <p:nvPr/>
        </p:nvSpPr>
        <p:spPr>
          <a:xfrm>
            <a:off x="9885695" y="4567346"/>
            <a:ext cx="183621" cy="179031"/>
          </a:xfrm>
          <a:prstGeom prst="rect">
            <a:avLst/>
          </a:prstGeom>
          <a:pattFill prst="wdUpDiag">
            <a:fgClr>
              <a:srgbClr val="ABC9E8"/>
            </a:fgClr>
            <a:bgClr>
              <a:schemeClr val="bg1"/>
            </a:bgClr>
          </a:pattFill>
          <a:ln w="25400">
            <a:solidFill>
              <a:srgbClr val="000000"/>
            </a:solidFill>
            <a:prstDash val="solid"/>
          </a:ln>
        </p:spPr>
        <p:txBody>
          <a:bodyPr/>
          <a:lstStyle/>
          <a:p>
            <a:endParaRPr lang="zh-CN" altLang="en-US" sz="1600"/>
          </a:p>
        </p:txBody>
      </p:sp>
      <p:sp>
        <p:nvSpPr>
          <p:cNvPr id="390" name="Text 178">
            <a:extLst>
              <a:ext uri="{FF2B5EF4-FFF2-40B4-BE49-F238E27FC236}">
                <a16:creationId xmlns:a16="http://schemas.microsoft.com/office/drawing/2014/main" id="{B693BCD4-F676-3160-8446-C7930977CB8E}"/>
              </a:ext>
            </a:extLst>
          </p:cNvPr>
          <p:cNvSpPr/>
          <p:nvPr/>
        </p:nvSpPr>
        <p:spPr>
          <a:xfrm>
            <a:off x="8375115" y="4183400"/>
            <a:ext cx="1083367" cy="426920"/>
          </a:xfrm>
          <a:prstGeom prst="rect">
            <a:avLst/>
          </a:prstGeom>
          <a:noFill/>
          <a:ln/>
        </p:spPr>
        <p:txBody>
          <a:bodyPr wrap="square" lIns="0" tIns="0" rIns="0" bIns="0" rtlCol="0" anchor="ctr">
            <a:noAutofit/>
          </a:bodyPr>
          <a:lstStyle/>
          <a:p>
            <a:r>
              <a:rPr lang="en-US" sz="1400" dirty="0">
                <a:solidFill>
                  <a:srgbClr val="000000"/>
                </a:solidFill>
                <a:latin typeface="Arial" pitchFamily="34" charset="0"/>
                <a:ea typeface="Arial" pitchFamily="34" charset="-122"/>
                <a:cs typeface="Arial" pitchFamily="34" charset="-120"/>
              </a:rPr>
              <a:t>KV</a:t>
            </a:r>
            <a:r>
              <a:rPr lang="zh-CN" altLang="en-US" sz="1400" dirty="0">
                <a:solidFill>
                  <a:srgbClr val="000000"/>
                </a:solidFill>
                <a:latin typeface="Arial" pitchFamily="34" charset="0"/>
                <a:ea typeface="Arial" pitchFamily="34" charset="-122"/>
                <a:cs typeface="Arial" pitchFamily="34" charset="-120"/>
              </a:rPr>
              <a:t> </a:t>
            </a:r>
            <a:r>
              <a:rPr lang="en-US" altLang="zh-CN" sz="1400" dirty="0">
                <a:solidFill>
                  <a:srgbClr val="000000"/>
                </a:solidFill>
                <a:latin typeface="Arial" pitchFamily="34" charset="0"/>
                <a:ea typeface="Arial" pitchFamily="34" charset="-122"/>
                <a:cs typeface="Arial" pitchFamily="34" charset="-120"/>
              </a:rPr>
              <a:t>Manager</a:t>
            </a:r>
            <a:endParaRPr lang="en-US" sz="1400" dirty="0"/>
          </a:p>
        </p:txBody>
      </p:sp>
      <p:sp>
        <p:nvSpPr>
          <p:cNvPr id="403" name="Rounded Rectangle 1">
            <a:extLst>
              <a:ext uri="{FF2B5EF4-FFF2-40B4-BE49-F238E27FC236}">
                <a16:creationId xmlns:a16="http://schemas.microsoft.com/office/drawing/2014/main" id="{0DE9B540-E6CE-E588-C1C6-48F56CA83585}"/>
              </a:ext>
            </a:extLst>
          </p:cNvPr>
          <p:cNvSpPr/>
          <p:nvPr/>
        </p:nvSpPr>
        <p:spPr>
          <a:xfrm>
            <a:off x="7465577" y="3090782"/>
            <a:ext cx="1710860" cy="850245"/>
          </a:xfrm>
          <a:prstGeom prst="roundRect">
            <a:avLst>
              <a:gd name="adj" fmla="val 15000"/>
            </a:avLst>
          </a:prstGeom>
          <a:solidFill>
            <a:srgbClr val="F2F2F2"/>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050"/>
          </a:p>
        </p:txBody>
      </p:sp>
      <p:sp>
        <p:nvSpPr>
          <p:cNvPr id="406" name="TextBox 2">
            <a:extLst>
              <a:ext uri="{FF2B5EF4-FFF2-40B4-BE49-F238E27FC236}">
                <a16:creationId xmlns:a16="http://schemas.microsoft.com/office/drawing/2014/main" id="{FDF51B8F-32C8-9F1B-C180-779594D18668}"/>
              </a:ext>
            </a:extLst>
          </p:cNvPr>
          <p:cNvSpPr txBox="1"/>
          <p:nvPr/>
        </p:nvSpPr>
        <p:spPr>
          <a:xfrm>
            <a:off x="7677743" y="3148302"/>
            <a:ext cx="1413796" cy="241092"/>
          </a:xfrm>
          <a:prstGeom prst="rect">
            <a:avLst/>
          </a:prstGeom>
          <a:noFill/>
        </p:spPr>
        <p:txBody>
          <a:bodyPr wrap="square" lIns="25400" tIns="12700" rIns="25400" bIns="1270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400" b="1" dirty="0">
                <a:solidFill>
                  <a:srgbClr val="000000"/>
                </a:solidFill>
                <a:latin typeface="Arial"/>
              </a:rPr>
              <a:t>Model Executor</a:t>
            </a:r>
          </a:p>
        </p:txBody>
      </p:sp>
      <p:sp>
        <p:nvSpPr>
          <p:cNvPr id="410" name="Shape 0">
            <a:extLst>
              <a:ext uri="{FF2B5EF4-FFF2-40B4-BE49-F238E27FC236}">
                <a16:creationId xmlns:a16="http://schemas.microsoft.com/office/drawing/2014/main" id="{C90E0C8C-EA74-6295-7630-AD975A11571C}"/>
              </a:ext>
            </a:extLst>
          </p:cNvPr>
          <p:cNvSpPr>
            <a:spLocks/>
          </p:cNvSpPr>
          <p:nvPr/>
        </p:nvSpPr>
        <p:spPr>
          <a:xfrm>
            <a:off x="3119515" y="1336567"/>
            <a:ext cx="2150497" cy="1416039"/>
          </a:xfrm>
          <a:prstGeom prst="roundRect">
            <a:avLst>
              <a:gd name="adj" fmla="val 7000"/>
            </a:avLst>
          </a:prstGeom>
          <a:solidFill>
            <a:srgbClr val="F5E2CF">
              <a:alpha val="80481"/>
            </a:srgbClr>
          </a:solidFill>
          <a:ln w="19050" cap="flat">
            <a:solidFill>
              <a:srgbClr val="111111"/>
            </a:solidFill>
            <a:prstDash val="sysDash"/>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a:p>
        </p:txBody>
      </p:sp>
      <p:sp>
        <p:nvSpPr>
          <p:cNvPr id="414" name="Text 2">
            <a:extLst>
              <a:ext uri="{FF2B5EF4-FFF2-40B4-BE49-F238E27FC236}">
                <a16:creationId xmlns:a16="http://schemas.microsoft.com/office/drawing/2014/main" id="{3BC1F089-0FB4-7C26-E053-506D50752958}"/>
              </a:ext>
            </a:extLst>
          </p:cNvPr>
          <p:cNvSpPr>
            <a:spLocks/>
          </p:cNvSpPr>
          <p:nvPr/>
        </p:nvSpPr>
        <p:spPr>
          <a:xfrm>
            <a:off x="3956910" y="1856773"/>
            <a:ext cx="1426092" cy="227455"/>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11111"/>
                </a:solidFill>
                <a:latin typeface="Arial" pitchFamily="34" charset="0"/>
                <a:ea typeface="Arial" pitchFamily="34" charset="-122"/>
                <a:cs typeface="Arial" pitchFamily="34" charset="-120"/>
              </a:rPr>
              <a:t>Low-Slack</a:t>
            </a:r>
          </a:p>
          <a:p>
            <a:pPr marL="0" indent="0">
              <a:buNone/>
            </a:pPr>
            <a:r>
              <a:rPr lang="en-US" sz="1200" dirty="0">
                <a:solidFill>
                  <a:srgbClr val="111111"/>
                </a:solidFill>
                <a:latin typeface="Arial" pitchFamily="34" charset="0"/>
                <a:ea typeface="Arial" pitchFamily="34" charset="-122"/>
                <a:cs typeface="Arial" pitchFamily="34" charset="-120"/>
              </a:rPr>
              <a:t>Request</a:t>
            </a:r>
            <a:endParaRPr lang="en-US" sz="1200" dirty="0"/>
          </a:p>
        </p:txBody>
      </p:sp>
      <p:sp>
        <p:nvSpPr>
          <p:cNvPr id="416" name="Text 2">
            <a:extLst>
              <a:ext uri="{FF2B5EF4-FFF2-40B4-BE49-F238E27FC236}">
                <a16:creationId xmlns:a16="http://schemas.microsoft.com/office/drawing/2014/main" id="{D97365C8-26C7-91FE-873E-36FD44E12544}"/>
              </a:ext>
            </a:extLst>
          </p:cNvPr>
          <p:cNvSpPr>
            <a:spLocks/>
          </p:cNvSpPr>
          <p:nvPr/>
        </p:nvSpPr>
        <p:spPr>
          <a:xfrm>
            <a:off x="3938919" y="2330744"/>
            <a:ext cx="1426092" cy="227455"/>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11111"/>
                </a:solidFill>
                <a:latin typeface="Arial" pitchFamily="34" charset="0"/>
                <a:ea typeface="Arial" pitchFamily="34" charset="-122"/>
                <a:cs typeface="Arial" pitchFamily="34" charset="-120"/>
              </a:rPr>
              <a:t>Preempt Victim</a:t>
            </a:r>
            <a:endParaRPr lang="en-US" sz="1200" dirty="0"/>
          </a:p>
        </p:txBody>
      </p:sp>
      <p:sp>
        <p:nvSpPr>
          <p:cNvPr id="417" name="图形 359" descr="上一步 纯色填充">
            <a:extLst>
              <a:ext uri="{FF2B5EF4-FFF2-40B4-BE49-F238E27FC236}">
                <a16:creationId xmlns:a16="http://schemas.microsoft.com/office/drawing/2014/main" id="{AFC5A9A3-E377-A68D-424F-57DEC75AF768}"/>
              </a:ext>
            </a:extLst>
          </p:cNvPr>
          <p:cNvSpPr/>
          <p:nvPr/>
        </p:nvSpPr>
        <p:spPr>
          <a:xfrm rot="17582316" flipV="1">
            <a:off x="5039762" y="1506725"/>
            <a:ext cx="1246948" cy="264409"/>
          </a:xfrm>
          <a:custGeom>
            <a:avLst/>
            <a:gdLst>
              <a:gd name="csX0" fmla="*/ 762000 w 762000"/>
              <a:gd name="csY0" fmla="*/ 99404 h 244367"/>
              <a:gd name="csX1" fmla="*/ 489585 w 762000"/>
              <a:gd name="csY1" fmla="*/ 0 h 244367"/>
              <a:gd name="csX2" fmla="*/ 489585 w 762000"/>
              <a:gd name="csY2" fmla="*/ 57986 h 244367"/>
              <a:gd name="csX3" fmla="*/ 0 w 762000"/>
              <a:gd name="csY3" fmla="*/ 244368 h 244367"/>
              <a:gd name="csX4" fmla="*/ 489585 w 762000"/>
              <a:gd name="csY4" fmla="*/ 144964 h 244367"/>
              <a:gd name="csX5" fmla="*/ 489585 w 762000"/>
              <a:gd name="csY5" fmla="*/ 198808 h 244367"/>
              <a:gd name="csX6" fmla="*/ 762000 w 762000"/>
              <a:gd name="csY6" fmla="*/ 99404 h 24436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62000" h="244367">
                <a:moveTo>
                  <a:pt x="762000" y="99404"/>
                </a:moveTo>
                <a:lnTo>
                  <a:pt x="489585" y="0"/>
                </a:lnTo>
                <a:lnTo>
                  <a:pt x="489585" y="57986"/>
                </a:lnTo>
                <a:cubicBezTo>
                  <a:pt x="71438" y="59642"/>
                  <a:pt x="0" y="244368"/>
                  <a:pt x="0" y="244368"/>
                </a:cubicBezTo>
                <a:cubicBezTo>
                  <a:pt x="0" y="244368"/>
                  <a:pt x="155258" y="146206"/>
                  <a:pt x="489585" y="144964"/>
                </a:cubicBezTo>
                <a:lnTo>
                  <a:pt x="489585" y="198808"/>
                </a:lnTo>
                <a:lnTo>
                  <a:pt x="762000" y="99404"/>
                </a:lnTo>
                <a:close/>
              </a:path>
            </a:pathLst>
          </a:custGeom>
          <a:solidFill>
            <a:srgbClr val="000000"/>
          </a:solidFill>
          <a:ln w="9525" cap="flat">
            <a:noFill/>
            <a:prstDash val="solid"/>
            <a:miter/>
          </a:ln>
        </p:spPr>
        <p:txBody>
          <a:bodyPr/>
          <a:lstStyle/>
          <a:p>
            <a:endParaRPr lang="zh-CN" altLang="en-US" dirty="0"/>
          </a:p>
        </p:txBody>
      </p:sp>
      <p:pic>
        <p:nvPicPr>
          <p:cNvPr id="419" name="图形 418" descr="上一步 纯色填充">
            <a:extLst>
              <a:ext uri="{FF2B5EF4-FFF2-40B4-BE49-F238E27FC236}">
                <a16:creationId xmlns:a16="http://schemas.microsoft.com/office/drawing/2014/main" id="{5202E5A1-D654-192B-0734-A8E6C844F1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4503078">
            <a:off x="5789210" y="1433444"/>
            <a:ext cx="1462670" cy="379029"/>
          </a:xfrm>
          <a:prstGeom prst="rect">
            <a:avLst/>
          </a:prstGeom>
        </p:spPr>
      </p:pic>
      <p:sp>
        <p:nvSpPr>
          <p:cNvPr id="424" name="Text 185">
            <a:extLst>
              <a:ext uri="{FF2B5EF4-FFF2-40B4-BE49-F238E27FC236}">
                <a16:creationId xmlns:a16="http://schemas.microsoft.com/office/drawing/2014/main" id="{DE738BA7-02A2-E0B5-8733-0A1A997D6CDB}"/>
              </a:ext>
            </a:extLst>
          </p:cNvPr>
          <p:cNvSpPr/>
          <p:nvPr/>
        </p:nvSpPr>
        <p:spPr>
          <a:xfrm>
            <a:off x="7412832" y="5873249"/>
            <a:ext cx="4269198" cy="275432"/>
          </a:xfrm>
          <a:prstGeom prst="rect">
            <a:avLst/>
          </a:prstGeom>
          <a:noFill/>
          <a:ln/>
        </p:spPr>
        <p:txBody>
          <a:bodyPr wrap="square" lIns="0" tIns="0" rIns="0" bIns="0" rtlCol="0" anchor="ctr">
            <a:normAutofit/>
          </a:bodyPr>
          <a:lstStyle/>
          <a:p>
            <a:r>
              <a:rPr lang="en-US" sz="1600" b="1" dirty="0">
                <a:solidFill>
                  <a:srgbClr val="000000"/>
                </a:solidFill>
                <a:latin typeface="Arial" pitchFamily="34" charset="0"/>
                <a:ea typeface="Arial" pitchFamily="34" charset="-122"/>
                <a:cs typeface="Arial" pitchFamily="34" charset="-120"/>
              </a:rPr>
              <a:t>Mechanism 2: V3 Cheap Reload (read)</a:t>
            </a:r>
            <a:endParaRPr lang="en-US" sz="1600" dirty="0"/>
          </a:p>
        </p:txBody>
      </p:sp>
      <p:sp>
        <p:nvSpPr>
          <p:cNvPr id="426" name="Shape 165">
            <a:extLst>
              <a:ext uri="{FF2B5EF4-FFF2-40B4-BE49-F238E27FC236}">
                <a16:creationId xmlns:a16="http://schemas.microsoft.com/office/drawing/2014/main" id="{C2BE9AC8-8E51-DF72-9ABB-4CF2A5865CF5}"/>
              </a:ext>
            </a:extLst>
          </p:cNvPr>
          <p:cNvSpPr/>
          <p:nvPr/>
        </p:nvSpPr>
        <p:spPr>
          <a:xfrm>
            <a:off x="7412832" y="6445631"/>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427" name="Shape 166">
            <a:extLst>
              <a:ext uri="{FF2B5EF4-FFF2-40B4-BE49-F238E27FC236}">
                <a16:creationId xmlns:a16="http://schemas.microsoft.com/office/drawing/2014/main" id="{6FBBAAD9-B2BE-680F-FFA0-66B7307649CC}"/>
              </a:ext>
            </a:extLst>
          </p:cNvPr>
          <p:cNvSpPr/>
          <p:nvPr/>
        </p:nvSpPr>
        <p:spPr>
          <a:xfrm>
            <a:off x="7633178" y="6445631"/>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428" name="Shape 167">
            <a:extLst>
              <a:ext uri="{FF2B5EF4-FFF2-40B4-BE49-F238E27FC236}">
                <a16:creationId xmlns:a16="http://schemas.microsoft.com/office/drawing/2014/main" id="{8E87D420-055F-5BD7-34D3-EA934AE8388A}"/>
              </a:ext>
            </a:extLst>
          </p:cNvPr>
          <p:cNvSpPr/>
          <p:nvPr/>
        </p:nvSpPr>
        <p:spPr>
          <a:xfrm>
            <a:off x="7853523" y="6445631"/>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429" name="Shape 168">
            <a:extLst>
              <a:ext uri="{FF2B5EF4-FFF2-40B4-BE49-F238E27FC236}">
                <a16:creationId xmlns:a16="http://schemas.microsoft.com/office/drawing/2014/main" id="{FF0BCC90-5815-70B5-7EA9-F216F6A00843}"/>
              </a:ext>
            </a:extLst>
          </p:cNvPr>
          <p:cNvSpPr/>
          <p:nvPr/>
        </p:nvSpPr>
        <p:spPr>
          <a:xfrm>
            <a:off x="8073869" y="6445631"/>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430" name="Text 169">
            <a:extLst>
              <a:ext uri="{FF2B5EF4-FFF2-40B4-BE49-F238E27FC236}">
                <a16:creationId xmlns:a16="http://schemas.microsoft.com/office/drawing/2014/main" id="{7C055FE2-4EF2-7261-E4C4-A763E71390D2}"/>
              </a:ext>
            </a:extLst>
          </p:cNvPr>
          <p:cNvSpPr/>
          <p:nvPr/>
        </p:nvSpPr>
        <p:spPr>
          <a:xfrm>
            <a:off x="8367663" y="6376773"/>
            <a:ext cx="206574" cy="275432"/>
          </a:xfrm>
          <a:prstGeom prst="rect">
            <a:avLst/>
          </a:prstGeom>
          <a:noFill/>
          <a:ln/>
        </p:spPr>
        <p:txBody>
          <a:bodyPr wrap="square" lIns="0" tIns="0" rIns="0" bIns="0" rtlCol="0" anchor="ctr">
            <a:normAutofit/>
          </a:bodyPr>
          <a:lstStyle/>
          <a:p>
            <a:pPr algn="ct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431" name="Shape 170">
            <a:extLst>
              <a:ext uri="{FF2B5EF4-FFF2-40B4-BE49-F238E27FC236}">
                <a16:creationId xmlns:a16="http://schemas.microsoft.com/office/drawing/2014/main" id="{141F1AE3-9947-960B-F1F1-8C6ECF412DFC}"/>
              </a:ext>
            </a:extLst>
          </p:cNvPr>
          <p:cNvSpPr/>
          <p:nvPr/>
        </p:nvSpPr>
        <p:spPr>
          <a:xfrm>
            <a:off x="8647686" y="6445631"/>
            <a:ext cx="183621" cy="179031"/>
          </a:xfrm>
          <a:prstGeom prst="rect">
            <a:avLst/>
          </a:prstGeom>
          <a:solidFill>
            <a:srgbClr val="ABC9E8"/>
          </a:solidFill>
          <a:ln w="25400">
            <a:solidFill>
              <a:srgbClr val="000000"/>
            </a:solidFill>
            <a:prstDash val="solid"/>
          </a:ln>
        </p:spPr>
        <p:txBody>
          <a:bodyPr/>
          <a:lstStyle/>
          <a:p>
            <a:endParaRPr lang="zh-CN" altLang="en-US" sz="1600"/>
          </a:p>
        </p:txBody>
      </p:sp>
      <p:sp>
        <p:nvSpPr>
          <p:cNvPr id="436" name="Rounded Rectangle 1">
            <a:extLst>
              <a:ext uri="{FF2B5EF4-FFF2-40B4-BE49-F238E27FC236}">
                <a16:creationId xmlns:a16="http://schemas.microsoft.com/office/drawing/2014/main" id="{B11AB855-F134-B029-EA0F-17055576814F}"/>
              </a:ext>
            </a:extLst>
          </p:cNvPr>
          <p:cNvSpPr/>
          <p:nvPr/>
        </p:nvSpPr>
        <p:spPr>
          <a:xfrm>
            <a:off x="7599894" y="3389394"/>
            <a:ext cx="1491645" cy="472016"/>
          </a:xfrm>
          <a:prstGeom prst="roundRect">
            <a:avLst>
              <a:gd name="adj" fmla="val 15000"/>
            </a:avLst>
          </a:prstGeom>
          <a:solidFill>
            <a:srgbClr val="F2F2F2"/>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050" dirty="0"/>
          </a:p>
        </p:txBody>
      </p:sp>
      <p:sp>
        <p:nvSpPr>
          <p:cNvPr id="437" name="TextBox 2">
            <a:extLst>
              <a:ext uri="{FF2B5EF4-FFF2-40B4-BE49-F238E27FC236}">
                <a16:creationId xmlns:a16="http://schemas.microsoft.com/office/drawing/2014/main" id="{CE2850BA-9FEC-B807-323D-B54244EA4BAC}"/>
              </a:ext>
            </a:extLst>
          </p:cNvPr>
          <p:cNvSpPr txBox="1"/>
          <p:nvPr/>
        </p:nvSpPr>
        <p:spPr>
          <a:xfrm>
            <a:off x="7396851" y="3451152"/>
            <a:ext cx="1413796" cy="364202"/>
          </a:xfrm>
          <a:prstGeom prst="rect">
            <a:avLst/>
          </a:prstGeom>
          <a:noFill/>
        </p:spPr>
        <p:txBody>
          <a:bodyPr wrap="square" lIns="25400" tIns="12700" rIns="25400" bIns="1270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rgbClr val="000000"/>
                </a:solidFill>
                <a:latin typeface="Arial"/>
              </a:rPr>
              <a:t>Recompute </a:t>
            </a:r>
          </a:p>
          <a:p>
            <a:pPr algn="ctr"/>
            <a:r>
              <a:rPr lang="en-US" sz="1100" b="1" dirty="0">
                <a:solidFill>
                  <a:srgbClr val="000000"/>
                </a:solidFill>
                <a:latin typeface="Arial"/>
              </a:rPr>
              <a:t>Partial Token</a:t>
            </a:r>
            <a:endParaRPr sz="1100" b="1" dirty="0">
              <a:solidFill>
                <a:srgbClr val="000000"/>
              </a:solidFill>
              <a:latin typeface="Arial"/>
            </a:endParaRPr>
          </a:p>
        </p:txBody>
      </p:sp>
      <p:sp>
        <p:nvSpPr>
          <p:cNvPr id="438" name="Shape 164">
            <a:extLst>
              <a:ext uri="{FF2B5EF4-FFF2-40B4-BE49-F238E27FC236}">
                <a16:creationId xmlns:a16="http://schemas.microsoft.com/office/drawing/2014/main" id="{F581B6C8-67C7-4941-45F7-2574A40E72E0}"/>
              </a:ext>
            </a:extLst>
          </p:cNvPr>
          <p:cNvSpPr/>
          <p:nvPr/>
        </p:nvSpPr>
        <p:spPr>
          <a:xfrm>
            <a:off x="8687271" y="3554531"/>
            <a:ext cx="229527" cy="179031"/>
          </a:xfrm>
          <a:prstGeom prst="rect">
            <a:avLst/>
          </a:prstGeom>
          <a:pattFill prst="wdUpDiag">
            <a:fgClr>
              <a:srgbClr val="ABC9E8"/>
            </a:fgClr>
            <a:bgClr>
              <a:schemeClr val="bg1"/>
            </a:bgClr>
          </a:pattFill>
          <a:ln w="25400">
            <a:solidFill>
              <a:srgbClr val="000000"/>
            </a:solidFill>
            <a:prstDash val="solid"/>
          </a:ln>
        </p:spPr>
        <p:txBody>
          <a:bodyPr/>
          <a:lstStyle/>
          <a:p>
            <a:endParaRPr lang="zh-CN" altLang="en-US" sz="1600"/>
          </a:p>
        </p:txBody>
      </p:sp>
      <p:graphicFrame>
        <p:nvGraphicFramePr>
          <p:cNvPr id="451" name="表格 450">
            <a:extLst>
              <a:ext uri="{FF2B5EF4-FFF2-40B4-BE49-F238E27FC236}">
                <a16:creationId xmlns:a16="http://schemas.microsoft.com/office/drawing/2014/main" id="{2AF6859B-BAA6-7A0E-AFE4-14BAFE2D9EC4}"/>
              </a:ext>
            </a:extLst>
          </p:cNvPr>
          <p:cNvGraphicFramePr>
            <a:graphicFrameLocks noGrp="1"/>
          </p:cNvGraphicFramePr>
          <p:nvPr>
            <p:extLst>
              <p:ext uri="{D42A27DB-BD31-4B8C-83A1-F6EECF244321}">
                <p14:modId xmlns:p14="http://schemas.microsoft.com/office/powerpoint/2010/main" val="2768334841"/>
              </p:ext>
            </p:extLst>
          </p:nvPr>
        </p:nvGraphicFramePr>
        <p:xfrm>
          <a:off x="3181561" y="1829230"/>
          <a:ext cx="684738" cy="258021"/>
        </p:xfrm>
        <a:graphic>
          <a:graphicData uri="http://schemas.openxmlformats.org/drawingml/2006/table">
            <a:tbl>
              <a:tblPr/>
              <a:tblGrid>
                <a:gridCol w="129486">
                  <a:extLst>
                    <a:ext uri="{9D8B030D-6E8A-4147-A177-3AD203B41FA5}">
                      <a16:colId xmlns:a16="http://schemas.microsoft.com/office/drawing/2014/main" val="2214202219"/>
                    </a:ext>
                  </a:extLst>
                </a:gridCol>
                <a:gridCol w="138813">
                  <a:extLst>
                    <a:ext uri="{9D8B030D-6E8A-4147-A177-3AD203B41FA5}">
                      <a16:colId xmlns:a16="http://schemas.microsoft.com/office/drawing/2014/main" val="2165070494"/>
                    </a:ext>
                  </a:extLst>
                </a:gridCol>
                <a:gridCol w="138813">
                  <a:extLst>
                    <a:ext uri="{9D8B030D-6E8A-4147-A177-3AD203B41FA5}">
                      <a16:colId xmlns:a16="http://schemas.microsoft.com/office/drawing/2014/main" val="2280627005"/>
                    </a:ext>
                  </a:extLst>
                </a:gridCol>
                <a:gridCol w="138813">
                  <a:extLst>
                    <a:ext uri="{9D8B030D-6E8A-4147-A177-3AD203B41FA5}">
                      <a16:colId xmlns:a16="http://schemas.microsoft.com/office/drawing/2014/main" val="1013834009"/>
                    </a:ext>
                  </a:extLst>
                </a:gridCol>
                <a:gridCol w="138813">
                  <a:extLst>
                    <a:ext uri="{9D8B030D-6E8A-4147-A177-3AD203B41FA5}">
                      <a16:colId xmlns:a16="http://schemas.microsoft.com/office/drawing/2014/main" val="2152785689"/>
                    </a:ext>
                  </a:extLst>
                </a:gridCol>
              </a:tblGrid>
              <a:tr h="258021">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2700" cap="flat" cmpd="sng" algn="ctr">
                      <a:no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BE4B9"/>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BE4B9"/>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BE4B9"/>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BE4B9"/>
                    </a:solidFill>
                  </a:tcPr>
                </a:tc>
                <a:extLst>
                  <a:ext uri="{0D108BD9-81ED-4DB2-BD59-A6C34878D82A}">
                    <a16:rowId xmlns:a16="http://schemas.microsoft.com/office/drawing/2014/main" val="2809298849"/>
                  </a:ext>
                </a:extLst>
              </a:tr>
            </a:tbl>
          </a:graphicData>
        </a:graphic>
      </p:graphicFrame>
      <p:graphicFrame>
        <p:nvGraphicFramePr>
          <p:cNvPr id="452" name="表格 451">
            <a:extLst>
              <a:ext uri="{FF2B5EF4-FFF2-40B4-BE49-F238E27FC236}">
                <a16:creationId xmlns:a16="http://schemas.microsoft.com/office/drawing/2014/main" id="{7C058A78-136B-02C4-AA2A-51FD97238F84}"/>
              </a:ext>
            </a:extLst>
          </p:cNvPr>
          <p:cNvGraphicFramePr>
            <a:graphicFrameLocks noGrp="1"/>
          </p:cNvGraphicFramePr>
          <p:nvPr>
            <p:extLst>
              <p:ext uri="{D42A27DB-BD31-4B8C-83A1-F6EECF244321}">
                <p14:modId xmlns:p14="http://schemas.microsoft.com/office/powerpoint/2010/main" val="1652409381"/>
              </p:ext>
            </p:extLst>
          </p:nvPr>
        </p:nvGraphicFramePr>
        <p:xfrm>
          <a:off x="3159182" y="2312936"/>
          <a:ext cx="684738" cy="258021"/>
        </p:xfrm>
        <a:graphic>
          <a:graphicData uri="http://schemas.openxmlformats.org/drawingml/2006/table">
            <a:tbl>
              <a:tblPr/>
              <a:tblGrid>
                <a:gridCol w="129486">
                  <a:extLst>
                    <a:ext uri="{9D8B030D-6E8A-4147-A177-3AD203B41FA5}">
                      <a16:colId xmlns:a16="http://schemas.microsoft.com/office/drawing/2014/main" val="2214202219"/>
                    </a:ext>
                  </a:extLst>
                </a:gridCol>
                <a:gridCol w="138813">
                  <a:extLst>
                    <a:ext uri="{9D8B030D-6E8A-4147-A177-3AD203B41FA5}">
                      <a16:colId xmlns:a16="http://schemas.microsoft.com/office/drawing/2014/main" val="2165070494"/>
                    </a:ext>
                  </a:extLst>
                </a:gridCol>
                <a:gridCol w="138813">
                  <a:extLst>
                    <a:ext uri="{9D8B030D-6E8A-4147-A177-3AD203B41FA5}">
                      <a16:colId xmlns:a16="http://schemas.microsoft.com/office/drawing/2014/main" val="2280627005"/>
                    </a:ext>
                  </a:extLst>
                </a:gridCol>
                <a:gridCol w="138813">
                  <a:extLst>
                    <a:ext uri="{9D8B030D-6E8A-4147-A177-3AD203B41FA5}">
                      <a16:colId xmlns:a16="http://schemas.microsoft.com/office/drawing/2014/main" val="1013834009"/>
                    </a:ext>
                  </a:extLst>
                </a:gridCol>
                <a:gridCol w="138813">
                  <a:extLst>
                    <a:ext uri="{9D8B030D-6E8A-4147-A177-3AD203B41FA5}">
                      <a16:colId xmlns:a16="http://schemas.microsoft.com/office/drawing/2014/main" val="2152785689"/>
                    </a:ext>
                  </a:extLst>
                </a:gridCol>
              </a:tblGrid>
              <a:tr h="258021">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2700" cap="flat" cmpd="sng" algn="ctr">
                      <a:no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BC9E8"/>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BC9E8"/>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BC9E8"/>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BE4B9"/>
                    </a:solidFill>
                  </a:tcPr>
                </a:tc>
                <a:extLst>
                  <a:ext uri="{0D108BD9-81ED-4DB2-BD59-A6C34878D82A}">
                    <a16:rowId xmlns:a16="http://schemas.microsoft.com/office/drawing/2014/main" val="2809298849"/>
                  </a:ext>
                </a:extLst>
              </a:tr>
            </a:tbl>
          </a:graphicData>
        </a:graphic>
      </p:graphicFrame>
      <p:cxnSp>
        <p:nvCxnSpPr>
          <p:cNvPr id="453" name="Connector 11">
            <a:extLst>
              <a:ext uri="{FF2B5EF4-FFF2-40B4-BE49-F238E27FC236}">
                <a16:creationId xmlns:a16="http://schemas.microsoft.com/office/drawing/2014/main" id="{AFD9C187-0537-6B2A-D081-BDCB42033F0D}"/>
              </a:ext>
            </a:extLst>
          </p:cNvPr>
          <p:cNvCxnSpPr>
            <a:cxnSpLocks/>
          </p:cNvCxnSpPr>
          <p:nvPr/>
        </p:nvCxnSpPr>
        <p:spPr>
          <a:xfrm>
            <a:off x="9548205" y="1990324"/>
            <a:ext cx="0" cy="179814"/>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460" name="表格 459">
            <a:extLst>
              <a:ext uri="{FF2B5EF4-FFF2-40B4-BE49-F238E27FC236}">
                <a16:creationId xmlns:a16="http://schemas.microsoft.com/office/drawing/2014/main" id="{0CAE3610-0531-BA8C-EFA6-17FF4CBA1B77}"/>
              </a:ext>
            </a:extLst>
          </p:cNvPr>
          <p:cNvGraphicFramePr>
            <a:graphicFrameLocks noGrp="1"/>
          </p:cNvGraphicFramePr>
          <p:nvPr>
            <p:extLst>
              <p:ext uri="{D42A27DB-BD31-4B8C-83A1-F6EECF244321}">
                <p14:modId xmlns:p14="http://schemas.microsoft.com/office/powerpoint/2010/main" val="2611672164"/>
              </p:ext>
            </p:extLst>
          </p:nvPr>
        </p:nvGraphicFramePr>
        <p:xfrm>
          <a:off x="4996755" y="2321683"/>
          <a:ext cx="138813" cy="258021"/>
        </p:xfrm>
        <a:graphic>
          <a:graphicData uri="http://schemas.openxmlformats.org/drawingml/2006/table">
            <a:tbl>
              <a:tblPr/>
              <a:tblGrid>
                <a:gridCol w="138813">
                  <a:extLst>
                    <a:ext uri="{9D8B030D-6E8A-4147-A177-3AD203B41FA5}">
                      <a16:colId xmlns:a16="http://schemas.microsoft.com/office/drawing/2014/main" val="2152785689"/>
                    </a:ext>
                  </a:extLst>
                </a:gridCol>
              </a:tblGrid>
              <a:tr h="258021">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pattFill prst="wdUpDiag">
                      <a:fgClr>
                        <a:srgbClr val="ABC9E8"/>
                      </a:fgClr>
                      <a:bgClr>
                        <a:schemeClr val="bg1"/>
                      </a:bgClr>
                    </a:pattFill>
                  </a:tcPr>
                </a:tc>
                <a:extLst>
                  <a:ext uri="{0D108BD9-81ED-4DB2-BD59-A6C34878D82A}">
                    <a16:rowId xmlns:a16="http://schemas.microsoft.com/office/drawing/2014/main" val="2809298849"/>
                  </a:ext>
                </a:extLst>
              </a:tr>
            </a:tbl>
          </a:graphicData>
        </a:graphic>
      </p:graphicFrame>
      <p:graphicFrame>
        <p:nvGraphicFramePr>
          <p:cNvPr id="461" name="表格 460">
            <a:extLst>
              <a:ext uri="{FF2B5EF4-FFF2-40B4-BE49-F238E27FC236}">
                <a16:creationId xmlns:a16="http://schemas.microsoft.com/office/drawing/2014/main" id="{4655BEF0-883D-9AEE-178E-D04458FBFDDF}"/>
              </a:ext>
            </a:extLst>
          </p:cNvPr>
          <p:cNvGraphicFramePr>
            <a:graphicFrameLocks noGrp="1"/>
          </p:cNvGraphicFramePr>
          <p:nvPr>
            <p:extLst>
              <p:ext uri="{D42A27DB-BD31-4B8C-83A1-F6EECF244321}">
                <p14:modId xmlns:p14="http://schemas.microsoft.com/office/powerpoint/2010/main" val="3995111652"/>
              </p:ext>
            </p:extLst>
          </p:nvPr>
        </p:nvGraphicFramePr>
        <p:xfrm>
          <a:off x="8920929" y="1702317"/>
          <a:ext cx="684738" cy="258021"/>
        </p:xfrm>
        <a:graphic>
          <a:graphicData uri="http://schemas.openxmlformats.org/drawingml/2006/table">
            <a:tbl>
              <a:tblPr/>
              <a:tblGrid>
                <a:gridCol w="129486">
                  <a:extLst>
                    <a:ext uri="{9D8B030D-6E8A-4147-A177-3AD203B41FA5}">
                      <a16:colId xmlns:a16="http://schemas.microsoft.com/office/drawing/2014/main" val="2214202219"/>
                    </a:ext>
                  </a:extLst>
                </a:gridCol>
                <a:gridCol w="138813">
                  <a:extLst>
                    <a:ext uri="{9D8B030D-6E8A-4147-A177-3AD203B41FA5}">
                      <a16:colId xmlns:a16="http://schemas.microsoft.com/office/drawing/2014/main" val="2165070494"/>
                    </a:ext>
                  </a:extLst>
                </a:gridCol>
                <a:gridCol w="138813">
                  <a:extLst>
                    <a:ext uri="{9D8B030D-6E8A-4147-A177-3AD203B41FA5}">
                      <a16:colId xmlns:a16="http://schemas.microsoft.com/office/drawing/2014/main" val="2280627005"/>
                    </a:ext>
                  </a:extLst>
                </a:gridCol>
                <a:gridCol w="138813">
                  <a:extLst>
                    <a:ext uri="{9D8B030D-6E8A-4147-A177-3AD203B41FA5}">
                      <a16:colId xmlns:a16="http://schemas.microsoft.com/office/drawing/2014/main" val="1013834009"/>
                    </a:ext>
                  </a:extLst>
                </a:gridCol>
                <a:gridCol w="138813">
                  <a:extLst>
                    <a:ext uri="{9D8B030D-6E8A-4147-A177-3AD203B41FA5}">
                      <a16:colId xmlns:a16="http://schemas.microsoft.com/office/drawing/2014/main" val="2152785689"/>
                    </a:ext>
                  </a:extLst>
                </a:gridCol>
              </a:tblGrid>
              <a:tr h="258021">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2700" cap="flat" cmpd="sng" algn="ctr">
                      <a:no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pattFill prst="wdUpDiag">
                      <a:fgClr>
                        <a:srgbClr val="ABC9E8"/>
                      </a:fgClr>
                      <a:bgClr>
                        <a:schemeClr val="bg1"/>
                      </a:bgClr>
                    </a:pattFill>
                  </a:tcPr>
                </a:tc>
                <a:extLst>
                  <a:ext uri="{0D108BD9-81ED-4DB2-BD59-A6C34878D82A}">
                    <a16:rowId xmlns:a16="http://schemas.microsoft.com/office/drawing/2014/main" val="2809298849"/>
                  </a:ext>
                </a:extLst>
              </a:tr>
            </a:tbl>
          </a:graphicData>
        </a:graphic>
      </p:graphicFrame>
      <p:graphicFrame>
        <p:nvGraphicFramePr>
          <p:cNvPr id="462" name="表格 461">
            <a:extLst>
              <a:ext uri="{FF2B5EF4-FFF2-40B4-BE49-F238E27FC236}">
                <a16:creationId xmlns:a16="http://schemas.microsoft.com/office/drawing/2014/main" id="{45A19091-D215-34AB-0232-8A8A78F16935}"/>
              </a:ext>
            </a:extLst>
          </p:cNvPr>
          <p:cNvGraphicFramePr>
            <a:graphicFrameLocks noGrp="1"/>
          </p:cNvGraphicFramePr>
          <p:nvPr>
            <p:extLst>
              <p:ext uri="{D42A27DB-BD31-4B8C-83A1-F6EECF244321}">
                <p14:modId xmlns:p14="http://schemas.microsoft.com/office/powerpoint/2010/main" val="2248089416"/>
              </p:ext>
            </p:extLst>
          </p:nvPr>
        </p:nvGraphicFramePr>
        <p:xfrm>
          <a:off x="8898550" y="2186023"/>
          <a:ext cx="684738" cy="258021"/>
        </p:xfrm>
        <a:graphic>
          <a:graphicData uri="http://schemas.openxmlformats.org/drawingml/2006/table">
            <a:tbl>
              <a:tblPr/>
              <a:tblGrid>
                <a:gridCol w="129486">
                  <a:extLst>
                    <a:ext uri="{9D8B030D-6E8A-4147-A177-3AD203B41FA5}">
                      <a16:colId xmlns:a16="http://schemas.microsoft.com/office/drawing/2014/main" val="2214202219"/>
                    </a:ext>
                  </a:extLst>
                </a:gridCol>
                <a:gridCol w="138813">
                  <a:extLst>
                    <a:ext uri="{9D8B030D-6E8A-4147-A177-3AD203B41FA5}">
                      <a16:colId xmlns:a16="http://schemas.microsoft.com/office/drawing/2014/main" val="2165070494"/>
                    </a:ext>
                  </a:extLst>
                </a:gridCol>
                <a:gridCol w="138813">
                  <a:extLst>
                    <a:ext uri="{9D8B030D-6E8A-4147-A177-3AD203B41FA5}">
                      <a16:colId xmlns:a16="http://schemas.microsoft.com/office/drawing/2014/main" val="2280627005"/>
                    </a:ext>
                  </a:extLst>
                </a:gridCol>
                <a:gridCol w="138813">
                  <a:extLst>
                    <a:ext uri="{9D8B030D-6E8A-4147-A177-3AD203B41FA5}">
                      <a16:colId xmlns:a16="http://schemas.microsoft.com/office/drawing/2014/main" val="1013834009"/>
                    </a:ext>
                  </a:extLst>
                </a:gridCol>
                <a:gridCol w="138813">
                  <a:extLst>
                    <a:ext uri="{9D8B030D-6E8A-4147-A177-3AD203B41FA5}">
                      <a16:colId xmlns:a16="http://schemas.microsoft.com/office/drawing/2014/main" val="2152785689"/>
                    </a:ext>
                  </a:extLst>
                </a:gridCol>
              </a:tblGrid>
              <a:tr h="258021">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2700" cap="flat" cmpd="sng" algn="ctr">
                      <a:no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BC9E8"/>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BC9E8"/>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BC9E8"/>
                    </a:solidFill>
                  </a:tcPr>
                </a:tc>
                <a:tc>
                  <a:txBody>
                    <a:bodyPr/>
                    <a:lstStyle/>
                    <a:p>
                      <a:pPr algn="l" eaLnBrk="1" fontAlgn="t" latinLnBrk="0" hangingPunct="1">
                        <a:buNone/>
                      </a:pPr>
                      <a:br>
                        <a:rPr lang="zh-CN" sz="800" b="1" dirty="0">
                          <a:solidFill>
                            <a:srgbClr val="FFFFFF"/>
                          </a:solidFill>
                          <a:effectLst/>
                        </a:rPr>
                      </a:br>
                      <a:endParaRPr lang="zh-CN" sz="800" dirty="0">
                        <a:effectLst/>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BC9E8"/>
                    </a:solidFill>
                  </a:tcPr>
                </a:tc>
                <a:extLst>
                  <a:ext uri="{0D108BD9-81ED-4DB2-BD59-A6C34878D82A}">
                    <a16:rowId xmlns:a16="http://schemas.microsoft.com/office/drawing/2014/main" val="2809298849"/>
                  </a:ext>
                </a:extLst>
              </a:tr>
            </a:tbl>
          </a:graphicData>
        </a:graphic>
      </p:graphicFrame>
      <p:cxnSp>
        <p:nvCxnSpPr>
          <p:cNvPr id="464" name="Connector 11">
            <a:extLst>
              <a:ext uri="{FF2B5EF4-FFF2-40B4-BE49-F238E27FC236}">
                <a16:creationId xmlns:a16="http://schemas.microsoft.com/office/drawing/2014/main" id="{3A6BAC3F-8D52-A365-459C-DCF231FA73FD}"/>
              </a:ext>
            </a:extLst>
          </p:cNvPr>
          <p:cNvCxnSpPr>
            <a:cxnSpLocks/>
          </p:cNvCxnSpPr>
          <p:nvPr/>
        </p:nvCxnSpPr>
        <p:spPr>
          <a:xfrm>
            <a:off x="3811176" y="2120139"/>
            <a:ext cx="0" cy="179814"/>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95" name="Shape 163">
            <a:extLst>
              <a:ext uri="{FF2B5EF4-FFF2-40B4-BE49-F238E27FC236}">
                <a16:creationId xmlns:a16="http://schemas.microsoft.com/office/drawing/2014/main" id="{B0585AB8-948E-B17E-47A4-8BCDF7647A2B}"/>
              </a:ext>
            </a:extLst>
          </p:cNvPr>
          <p:cNvSpPr/>
          <p:nvPr/>
        </p:nvSpPr>
        <p:spPr>
          <a:xfrm>
            <a:off x="3341143" y="4258764"/>
            <a:ext cx="2111646" cy="633617"/>
          </a:xfrm>
          <a:prstGeom prst="roundRect">
            <a:avLst/>
          </a:prstGeom>
          <a:solidFill>
            <a:srgbClr val="F3FAF3">
              <a:alpha val="0"/>
            </a:srgbClr>
          </a:solidFill>
          <a:ln w="27940">
            <a:solidFill>
              <a:srgbClr val="000000"/>
            </a:solidFill>
            <a:prstDash val="solid"/>
          </a:ln>
        </p:spPr>
        <p:txBody>
          <a:bodyPr/>
          <a:lstStyle/>
          <a:p>
            <a:endParaRPr lang="zh-CN" altLang="en-US" sz="1600"/>
          </a:p>
        </p:txBody>
      </p:sp>
      <p:sp>
        <p:nvSpPr>
          <p:cNvPr id="296" name="Shape 164">
            <a:extLst>
              <a:ext uri="{FF2B5EF4-FFF2-40B4-BE49-F238E27FC236}">
                <a16:creationId xmlns:a16="http://schemas.microsoft.com/office/drawing/2014/main" id="{A16A7E66-81EB-8C1F-C331-E974BC814A64}"/>
              </a:ext>
            </a:extLst>
          </p:cNvPr>
          <p:cNvSpPr/>
          <p:nvPr/>
        </p:nvSpPr>
        <p:spPr>
          <a:xfrm>
            <a:off x="3446726" y="4571043"/>
            <a:ext cx="229527" cy="179031"/>
          </a:xfrm>
          <a:prstGeom prst="rect">
            <a:avLst/>
          </a:prstGeom>
          <a:solidFill>
            <a:srgbClr val="ABC9E8"/>
          </a:solidFill>
          <a:ln w="25400">
            <a:solidFill>
              <a:srgbClr val="000000"/>
            </a:solidFill>
            <a:prstDash val="solid"/>
          </a:ln>
        </p:spPr>
        <p:txBody>
          <a:bodyPr/>
          <a:lstStyle/>
          <a:p>
            <a:endParaRPr lang="zh-CN" altLang="en-US" sz="1600"/>
          </a:p>
        </p:txBody>
      </p:sp>
      <p:sp>
        <p:nvSpPr>
          <p:cNvPr id="297" name="Shape 165">
            <a:extLst>
              <a:ext uri="{FF2B5EF4-FFF2-40B4-BE49-F238E27FC236}">
                <a16:creationId xmlns:a16="http://schemas.microsoft.com/office/drawing/2014/main" id="{05E50DA5-179E-A29F-C987-F53FDF65BDEE}"/>
              </a:ext>
            </a:extLst>
          </p:cNvPr>
          <p:cNvSpPr/>
          <p:nvPr/>
        </p:nvSpPr>
        <p:spPr>
          <a:xfrm>
            <a:off x="3933322" y="4571043"/>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298" name="Shape 166">
            <a:extLst>
              <a:ext uri="{FF2B5EF4-FFF2-40B4-BE49-F238E27FC236}">
                <a16:creationId xmlns:a16="http://schemas.microsoft.com/office/drawing/2014/main" id="{32E7E349-36F8-C182-1AA0-117305B05D34}"/>
              </a:ext>
            </a:extLst>
          </p:cNvPr>
          <p:cNvSpPr/>
          <p:nvPr/>
        </p:nvSpPr>
        <p:spPr>
          <a:xfrm>
            <a:off x="4153668" y="4571043"/>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299" name="Shape 167">
            <a:extLst>
              <a:ext uri="{FF2B5EF4-FFF2-40B4-BE49-F238E27FC236}">
                <a16:creationId xmlns:a16="http://schemas.microsoft.com/office/drawing/2014/main" id="{EA9B12A8-5C17-6E95-EBDD-F615A21F99CD}"/>
              </a:ext>
            </a:extLst>
          </p:cNvPr>
          <p:cNvSpPr/>
          <p:nvPr/>
        </p:nvSpPr>
        <p:spPr>
          <a:xfrm>
            <a:off x="4374013" y="4571043"/>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300" name="Shape 168">
            <a:extLst>
              <a:ext uri="{FF2B5EF4-FFF2-40B4-BE49-F238E27FC236}">
                <a16:creationId xmlns:a16="http://schemas.microsoft.com/office/drawing/2014/main" id="{31846ABF-B094-DA3C-B9D5-6C25A7C06AC1}"/>
              </a:ext>
            </a:extLst>
          </p:cNvPr>
          <p:cNvSpPr/>
          <p:nvPr/>
        </p:nvSpPr>
        <p:spPr>
          <a:xfrm>
            <a:off x="4594359" y="4571043"/>
            <a:ext cx="220346" cy="179031"/>
          </a:xfrm>
          <a:prstGeom prst="rect">
            <a:avLst/>
          </a:prstGeom>
          <a:solidFill>
            <a:srgbClr val="ABC9E8"/>
          </a:solidFill>
          <a:ln w="25400">
            <a:solidFill>
              <a:srgbClr val="000000"/>
            </a:solidFill>
            <a:prstDash val="solid"/>
          </a:ln>
        </p:spPr>
        <p:txBody>
          <a:bodyPr/>
          <a:lstStyle/>
          <a:p>
            <a:endParaRPr lang="zh-CN" altLang="en-US" sz="1600"/>
          </a:p>
        </p:txBody>
      </p:sp>
      <p:sp>
        <p:nvSpPr>
          <p:cNvPr id="301" name="Text 169">
            <a:extLst>
              <a:ext uri="{FF2B5EF4-FFF2-40B4-BE49-F238E27FC236}">
                <a16:creationId xmlns:a16="http://schemas.microsoft.com/office/drawing/2014/main" id="{AB418137-1511-8B11-C2FD-E65E55914D58}"/>
              </a:ext>
            </a:extLst>
          </p:cNvPr>
          <p:cNvSpPr/>
          <p:nvPr/>
        </p:nvSpPr>
        <p:spPr>
          <a:xfrm>
            <a:off x="4888153" y="4502185"/>
            <a:ext cx="206574" cy="275432"/>
          </a:xfrm>
          <a:prstGeom prst="rect">
            <a:avLst/>
          </a:prstGeom>
          <a:noFill/>
          <a:ln/>
        </p:spPr>
        <p:txBody>
          <a:bodyPr wrap="square" lIns="0" tIns="0" rIns="0" bIns="0" rtlCol="0" anchor="ctr">
            <a:normAutofit/>
          </a:bodyPr>
          <a:lstStyle/>
          <a:p>
            <a:pPr algn="ct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02" name="Shape 170">
            <a:extLst>
              <a:ext uri="{FF2B5EF4-FFF2-40B4-BE49-F238E27FC236}">
                <a16:creationId xmlns:a16="http://schemas.microsoft.com/office/drawing/2014/main" id="{16BBA8CD-A8C7-1997-970C-4E81A40AC942}"/>
              </a:ext>
            </a:extLst>
          </p:cNvPr>
          <p:cNvSpPr/>
          <p:nvPr/>
        </p:nvSpPr>
        <p:spPr>
          <a:xfrm>
            <a:off x="5168176" y="4571043"/>
            <a:ext cx="183621" cy="179031"/>
          </a:xfrm>
          <a:prstGeom prst="rect">
            <a:avLst/>
          </a:prstGeom>
          <a:solidFill>
            <a:srgbClr val="ABC9E8"/>
          </a:solidFill>
          <a:ln w="25400">
            <a:solidFill>
              <a:srgbClr val="000000"/>
            </a:solidFill>
            <a:prstDash val="solid"/>
          </a:ln>
        </p:spPr>
        <p:txBody>
          <a:bodyPr/>
          <a:lstStyle/>
          <a:p>
            <a:endParaRPr lang="zh-CN" altLang="en-US" sz="1600"/>
          </a:p>
        </p:txBody>
      </p:sp>
      <p:sp>
        <p:nvSpPr>
          <p:cNvPr id="303" name="Text 178">
            <a:extLst>
              <a:ext uri="{FF2B5EF4-FFF2-40B4-BE49-F238E27FC236}">
                <a16:creationId xmlns:a16="http://schemas.microsoft.com/office/drawing/2014/main" id="{896BEC25-32B0-67F3-0E43-1F28655365BE}"/>
              </a:ext>
            </a:extLst>
          </p:cNvPr>
          <p:cNvSpPr/>
          <p:nvPr/>
        </p:nvSpPr>
        <p:spPr>
          <a:xfrm>
            <a:off x="3437244" y="4179293"/>
            <a:ext cx="1083367" cy="426920"/>
          </a:xfrm>
          <a:prstGeom prst="rect">
            <a:avLst/>
          </a:prstGeom>
          <a:noFill/>
          <a:ln/>
        </p:spPr>
        <p:txBody>
          <a:bodyPr wrap="square" lIns="0" tIns="0" rIns="0" bIns="0" rtlCol="0" anchor="ctr">
            <a:noAutofit/>
          </a:bodyPr>
          <a:lstStyle/>
          <a:p>
            <a:r>
              <a:rPr lang="en-US" sz="1400" dirty="0">
                <a:solidFill>
                  <a:srgbClr val="000000"/>
                </a:solidFill>
                <a:latin typeface="Arial" pitchFamily="34" charset="0"/>
                <a:ea typeface="Arial" pitchFamily="34" charset="-122"/>
                <a:cs typeface="Arial" pitchFamily="34" charset="-120"/>
              </a:rPr>
              <a:t>KV</a:t>
            </a:r>
            <a:r>
              <a:rPr lang="zh-CN" altLang="en-US" sz="1400" dirty="0">
                <a:solidFill>
                  <a:srgbClr val="000000"/>
                </a:solidFill>
                <a:latin typeface="Arial" pitchFamily="34" charset="0"/>
                <a:ea typeface="Arial" pitchFamily="34" charset="-122"/>
                <a:cs typeface="Arial" pitchFamily="34" charset="-120"/>
              </a:rPr>
              <a:t> </a:t>
            </a:r>
            <a:r>
              <a:rPr lang="en-US" altLang="zh-CN" sz="1400" dirty="0">
                <a:solidFill>
                  <a:srgbClr val="000000"/>
                </a:solidFill>
                <a:latin typeface="Arial" pitchFamily="34" charset="0"/>
                <a:ea typeface="Arial" pitchFamily="34" charset="-122"/>
                <a:cs typeface="Arial" pitchFamily="34" charset="-120"/>
              </a:rPr>
              <a:t>Manager</a:t>
            </a:r>
            <a:endParaRPr lang="en-US" sz="1400" dirty="0"/>
          </a:p>
        </p:txBody>
      </p:sp>
      <p:sp>
        <p:nvSpPr>
          <p:cNvPr id="465" name="Text 1">
            <a:extLst>
              <a:ext uri="{FF2B5EF4-FFF2-40B4-BE49-F238E27FC236}">
                <a16:creationId xmlns:a16="http://schemas.microsoft.com/office/drawing/2014/main" id="{FD9F54AF-1C27-53C4-A108-5DFFC47CBE2D}"/>
              </a:ext>
            </a:extLst>
          </p:cNvPr>
          <p:cNvSpPr>
            <a:spLocks/>
          </p:cNvSpPr>
          <p:nvPr/>
        </p:nvSpPr>
        <p:spPr>
          <a:xfrm>
            <a:off x="4041786" y="1480917"/>
            <a:ext cx="1084284" cy="245651"/>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111111"/>
                </a:solidFill>
                <a:latin typeface="Arial" pitchFamily="34" charset="0"/>
                <a:ea typeface="Arial" pitchFamily="34" charset="-122"/>
                <a:cs typeface="Arial" pitchFamily="34" charset="-120"/>
              </a:rPr>
              <a:t>SLO-aware Picker</a:t>
            </a:r>
            <a:endParaRPr lang="en-US" sz="1400" dirty="0"/>
          </a:p>
        </p:txBody>
      </p:sp>
      <p:sp>
        <p:nvSpPr>
          <p:cNvPr id="466" name="右箭头 465">
            <a:extLst>
              <a:ext uri="{FF2B5EF4-FFF2-40B4-BE49-F238E27FC236}">
                <a16:creationId xmlns:a16="http://schemas.microsoft.com/office/drawing/2014/main" id="{D4271463-7781-8F32-AE78-E9B24C8235F3}"/>
              </a:ext>
            </a:extLst>
          </p:cNvPr>
          <p:cNvSpPr/>
          <p:nvPr/>
        </p:nvSpPr>
        <p:spPr>
          <a:xfrm>
            <a:off x="5297578" y="2274904"/>
            <a:ext cx="2225427" cy="2274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7" name="Text 1">
            <a:extLst>
              <a:ext uri="{FF2B5EF4-FFF2-40B4-BE49-F238E27FC236}">
                <a16:creationId xmlns:a16="http://schemas.microsoft.com/office/drawing/2014/main" id="{79028595-F31D-AB6A-F848-F0F3EA97BA6A}"/>
              </a:ext>
            </a:extLst>
          </p:cNvPr>
          <p:cNvSpPr>
            <a:spLocks/>
          </p:cNvSpPr>
          <p:nvPr/>
        </p:nvSpPr>
        <p:spPr>
          <a:xfrm>
            <a:off x="5452789" y="2068973"/>
            <a:ext cx="2012788" cy="245651"/>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111111"/>
                </a:solidFill>
                <a:latin typeface="Arial" pitchFamily="34" charset="0"/>
                <a:ea typeface="Arial" pitchFamily="34" charset="-122"/>
                <a:cs typeface="Arial" pitchFamily="34" charset="-120"/>
              </a:rPr>
              <a:t>Preempt + Reroute</a:t>
            </a:r>
            <a:endParaRPr lang="en-US" sz="1400" dirty="0"/>
          </a:p>
        </p:txBody>
      </p:sp>
    </p:spTree>
    <p:extLst>
      <p:ext uri="{BB962C8B-B14F-4D97-AF65-F5344CB8AC3E}">
        <p14:creationId xmlns:p14="http://schemas.microsoft.com/office/powerpoint/2010/main" val="241297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381</TotalTime>
  <Words>326</Words>
  <Application>Microsoft Macintosh PowerPoint</Application>
  <PresentationFormat>宽屏</PresentationFormat>
  <Paragraphs>55</Paragraphs>
  <Slides>1</Slides>
  <Notes>1</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vt:i4>
      </vt:variant>
    </vt:vector>
  </HeadingPairs>
  <TitlesOfParts>
    <vt:vector size="3" baseType="lpstr">
      <vt:lpstr>Arial</vt:lpstr>
      <vt:lpstr>Office Theme</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Long-Context LLM Serving with Cheap Preempt-Resume</dc:title>
  <dc:subject>Editable systems paper figure</dc:subject>
  <dc:creator>OpenAI</dc:creator>
  <cp:lastModifiedBy>Yi Zhong</cp:lastModifiedBy>
  <cp:revision>4</cp:revision>
  <dcterms:created xsi:type="dcterms:W3CDTF">2026-05-17T19:35:30Z</dcterms:created>
  <dcterms:modified xsi:type="dcterms:W3CDTF">2026-05-18T03:15:28Z</dcterms:modified>
</cp:coreProperties>
</file>