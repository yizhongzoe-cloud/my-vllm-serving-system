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Calibri"/>
              </a:rP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1064240" cy="190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257800" cy="44805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>
                <a:solidFill>
                  <a:srgbClr val="1A1A1A"/>
                </a:solidFill>
                <a:latin typeface="Calibri"/>
              </a:rPr>
              <a:t>Demo A: tool-pause resume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7548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1.  Start a long-context request, stream output</a:t>
            </a:r>
          </a:p>
          <a:p>
            <a:pPr>
              <a:spcAft>
                <a:spcPts val="7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2.  Trigger a 10 s tool / API pause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666666"/>
                </a:solidFill>
                <a:latin typeface="Calibri"/>
              </a:rPr>
              <a:t>      GPU KV released — usage drops to 0</a:t>
            </a:r>
          </a:p>
          <a:p>
            <a:pPr>
              <a:spcAft>
                <a:spcPts val="7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3.  Resume two ways (same engine):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E07A5F"/>
                </a:solidFill>
                <a:latin typeface="Calibri"/>
              </a:rPr>
              <a:t>      recompute — re-prefill the whole context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2E86AB"/>
                </a:solidFill>
                <a:latin typeface="Calibri"/>
              </a:rPr>
              <a:t>      Ferry — reload exact KV from host (1 step)</a:t>
            </a:r>
          </a:p>
          <a:p>
            <a:pPr>
              <a:spcAft>
                <a:spcPts val="7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4.  Both continue seamlessly — even mid-word</a:t>
            </a:r>
          </a:p>
          <a:p>
            <a:pPr>
              <a:spcAft>
                <a:spcPts val="700"/>
              </a:spcAft>
            </a:pPr>
            <a:r>
              <a:rPr sz="1550" b="0">
                <a:solidFill>
                  <a:srgbClr val="1A1A1A"/>
                </a:solidFill>
                <a:latin typeface="Calibri"/>
              </a:rPr>
              <a:t>5.  Compare resume cost — Ferry ~15x faster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54480"/>
            <a:ext cx="5257800" cy="44805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1">
                <a:solidFill>
                  <a:srgbClr val="1A1A1A"/>
                </a:solidFill>
                <a:latin typeface="Consolas"/>
              </a:rPr>
              <a:t>terminal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97480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Consolas"/>
              </a:rPr>
              <a:t>GPU KV cache usage  (the pause)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Consolas"/>
              </a:rPr>
              <a:t>  running  14.7%</a:t>
            </a:r>
            <a:r>
              <a:rPr sz="1350" b="0">
                <a:solidFill>
                  <a:srgbClr val="666666"/>
                </a:solidFill>
                <a:latin typeface="Consolas"/>
              </a:rPr>
              <a:t>   KV on GPU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E07A5F"/>
                </a:solidFill>
                <a:latin typeface="Consolas"/>
              </a:rPr>
              <a:t>  PAUSE     0.0%</a:t>
            </a:r>
            <a:r>
              <a:rPr sz="1350" b="0">
                <a:solidFill>
                  <a:srgbClr val="666666"/>
                </a:solidFill>
                <a:latin typeface="Consolas"/>
              </a:rPr>
              <a:t>   freed -&gt; host RAM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2E86AB"/>
                </a:solidFill>
                <a:latin typeface="Consolas"/>
              </a:rPr>
              <a:t>  reload   14.8%</a:t>
            </a:r>
            <a:r>
              <a:rPr sz="1350" b="0">
                <a:solidFill>
                  <a:srgbClr val="666666"/>
                </a:solidFill>
                <a:latin typeface="Consolas"/>
              </a:rPr>
              <a:t>   back from host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Consolas"/>
              </a:rPr>
              <a:t/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Consolas"/>
              </a:rPr>
              <a:t>resume cost  (time-to-first-token)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E07A5F"/>
                </a:solidFill>
                <a:latin typeface="Consolas"/>
              </a:rPr>
              <a:t>  recompute  re-prefill ~9k tok</a:t>
            </a:r>
            <a:r>
              <a:rPr sz="1350" b="0">
                <a:solidFill>
                  <a:srgbClr val="1A1A1A"/>
                </a:solidFill>
                <a:latin typeface="Consolas"/>
              </a:rPr>
              <a:t>  2.62 s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2E86AB"/>
                </a:solidFill>
                <a:latin typeface="Consolas"/>
              </a:rPr>
              <a:t>  Ferry      reload, 1 step</a:t>
            </a:r>
            <a:r>
              <a:rPr sz="1350" b="0">
                <a:solidFill>
                  <a:srgbClr val="1A1A1A"/>
                </a:solidFill>
                <a:latin typeface="Consolas"/>
              </a:rPr>
              <a:t>     0.17 s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Consolas"/>
              </a:rPr>
              <a:t>                            </a:t>
            </a:r>
            <a:r>
              <a:rPr sz="1350" b="0">
                <a:solidFill>
                  <a:srgbClr val="666666"/>
                </a:solidFill>
                <a:latin typeface="Consolas"/>
              </a:rPr>
              <a:t>    ~15x faster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